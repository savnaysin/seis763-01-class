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7" r:id="rId2"/>
    <p:sldId id="258" r:id="rId3"/>
    <p:sldId id="260" r:id="rId4"/>
    <p:sldId id="261" r:id="rId5"/>
    <p:sldId id="262" r:id="rId6"/>
    <p:sldId id="263" r:id="rId7"/>
    <p:sldId id="264" r:id="rId8"/>
    <p:sldId id="265"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9"/>
    <p:restoredTop sz="76932"/>
  </p:normalViewPr>
  <p:slideViewPr>
    <p:cSldViewPr snapToGrid="0" snapToObjects="1">
      <p:cViewPr varScale="1">
        <p:scale>
          <a:sx n="117" d="100"/>
          <a:sy n="117" d="100"/>
        </p:scale>
        <p:origin x="218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52F493-6E16-DA49-91F4-8F481CF3EDA4}" type="datetimeFigureOut">
              <a:rPr lang="en-US" smtClean="0"/>
              <a:t>4/28/26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790D5C-2534-0F44-9DE7-681A4618993F}" type="slidenum">
              <a:rPr lang="en-US" smtClean="0"/>
              <a:t>‹#›</a:t>
            </a:fld>
            <a:endParaRPr lang="en-US"/>
          </a:p>
        </p:txBody>
      </p:sp>
    </p:spTree>
    <p:extLst>
      <p:ext uri="{BB962C8B-B14F-4D97-AF65-F5344CB8AC3E}">
        <p14:creationId xmlns:p14="http://schemas.microsoft.com/office/powerpoint/2010/main" val="18749588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chose 75th percentile as the threshold because it identifies employees significantly above average burnout. Using median would label half the workforce as 'at risk' which is too broad for targeted interventions.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Class imbalance is moderate (not severe like 95/5), so </a:t>
            </a:r>
            <a:r>
              <a:rPr dirty="0" err="1"/>
              <a:t>class_weight</a:t>
            </a:r>
            <a:r>
              <a:rPr dirty="0"/>
              <a:t>='balanced' is sufficient. Weighted metrics are dominated by the majority class. A model can score 0.84 weighted F1 while only detecting 63% of actual burnout cases. Always check per-class metrics.</a:t>
            </a:r>
            <a:br>
              <a:rPr lang="en-US" dirty="0"/>
            </a:br>
            <a:endParaRPr lang="en-US" dirty="0"/>
          </a:p>
          <a:p>
            <a:endParaRPr lang="en-US" dirty="0"/>
          </a:p>
          <a:p>
            <a:r>
              <a:rPr lang="en-US" dirty="0"/>
              <a:t>Key insight from confusion matrices:</a:t>
            </a:r>
          </a:p>
          <a:p>
            <a:r>
              <a:rPr lang="en-US" dirty="0"/>
              <a:t>- SVM-RBF: Best True Positive rate (catches most burnout cases) but more False Positives</a:t>
            </a:r>
          </a:p>
          <a:p>
            <a:r>
              <a:rPr lang="en-US" dirty="0"/>
              <a:t>- Random Forest: Fewest False Positives but misses half of burnout cases</a:t>
            </a:r>
          </a:p>
          <a:p>
            <a:r>
              <a:rPr lang="en-US" dirty="0"/>
              <a:t>- Decision Tree: Worst overall with balanced errors</a:t>
            </a:r>
          </a:p>
          <a:p>
            <a:r>
              <a:rPr lang="en-US" dirty="0"/>
              <a:t>The trade-off between FP and FN is visible here.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Recall is more important than precision for burnout detection because:</a:t>
            </a:r>
          </a:p>
          <a:p>
            <a:r>
              <a:rPr dirty="0"/>
              <a:t>- False Negative (missing burnout) = employee suffers without intervention</a:t>
            </a:r>
          </a:p>
          <a:p>
            <a:r>
              <a:rPr dirty="0"/>
              <a:t>- False Positive (flagging non-burnout) = unnecessary check-in (low cost)</a:t>
            </a:r>
          </a:p>
          <a:p>
            <a:r>
              <a:rPr dirty="0"/>
              <a:t>SVM-RBF and Logistic Reg are near-identical on recall (~82-85%).</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AUC is threshold-independent — it tells us the model's overall ranking ability. An AUC of 0.91 means that a randomly chosen burnout employee will score higher than a randomly chosen non-burnout employee 91% of the time.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LASSO (L1) drives coefficients to exactly zero, performing automatic feature selection. Features with non-zero coefficients have meaningful linear associations with burnout. The strongest predictor is AI task replacement percentage — employees whose tasks are being automated are most at risk.</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learning curve is the simplest overfitting diagnostic. A large gap between train and CV scores means the model memorizes noise. SVM-RBF's gap (~0.12) is moderate overfitting — it won't generalize as well as its training score suggests. Logistic Regression's tiny gap (~0.03) means what you see in training is what you'll get in production.</a:t>
            </a:r>
            <a:br>
              <a:rPr lang="en-US" dirty="0"/>
            </a:br>
            <a:br>
              <a:rPr lang="en-US" dirty="0"/>
            </a:br>
            <a:r>
              <a:rPr lang="en-US" sz="1200" b="1" i="0" kern="1200" dirty="0">
                <a:solidFill>
                  <a:schemeClr val="tx1"/>
                </a:solidFill>
                <a:effectLst/>
                <a:latin typeface="+mn-lt"/>
                <a:ea typeface="+mn-ea"/>
                <a:cs typeface="+mn-cs"/>
              </a:rPr>
              <a:t>Lines close together</a:t>
            </a:r>
            <a:r>
              <a:rPr lang="en-US" sz="1200" b="0" i="0" kern="1200" dirty="0">
                <a:solidFill>
                  <a:schemeClr val="tx1"/>
                </a:solidFill>
                <a:effectLst/>
                <a:latin typeface="+mn-lt"/>
                <a:ea typeface="+mn-ea"/>
                <a:cs typeface="+mn-cs"/>
              </a:rPr>
              <a:t> → the model generalizes well (Logistic Regression: gap = 0.027)</a:t>
            </a:r>
          </a:p>
          <a:p>
            <a:r>
              <a:rPr lang="en-US" sz="1200" b="1" i="0" kern="1200" dirty="0">
                <a:solidFill>
                  <a:schemeClr val="tx1"/>
                </a:solidFill>
                <a:effectLst/>
                <a:latin typeface="+mn-lt"/>
                <a:ea typeface="+mn-ea"/>
                <a:cs typeface="+mn-cs"/>
              </a:rPr>
              <a:t>Big gap between lines</a:t>
            </a:r>
            <a:r>
              <a:rPr lang="en-US" sz="1200" b="0" i="0" kern="1200" dirty="0">
                <a:solidFill>
                  <a:schemeClr val="tx1"/>
                </a:solidFill>
                <a:effectLst/>
                <a:latin typeface="+mn-lt"/>
                <a:ea typeface="+mn-ea"/>
                <a:cs typeface="+mn-cs"/>
              </a:rPr>
              <a:t> → overfitting — the model "memorized the textbook" but can't handle new questions (SVM-RBF: gap = 0.124)</a:t>
            </a:r>
          </a:p>
          <a:p>
            <a:r>
              <a:rPr lang="en-US" sz="1200" b="1" i="0" kern="1200" dirty="0">
                <a:solidFill>
                  <a:schemeClr val="tx1"/>
                </a:solidFill>
                <a:effectLst/>
                <a:latin typeface="+mn-lt"/>
                <a:ea typeface="+mn-ea"/>
                <a:cs typeface="+mn-cs"/>
              </a:rPr>
              <a:t>Both lines low</a:t>
            </a:r>
            <a:r>
              <a:rPr lang="en-US" sz="1200" b="0" i="0" kern="1200" dirty="0">
                <a:solidFill>
                  <a:schemeClr val="tx1"/>
                </a:solidFill>
                <a:effectLst/>
                <a:latin typeface="+mn-lt"/>
                <a:ea typeface="+mn-ea"/>
                <a:cs typeface="+mn-cs"/>
              </a:rPr>
              <a:t> → underfitting — the model hasn't learned enough from either</a:t>
            </a:r>
          </a:p>
          <a:p>
            <a:r>
              <a:rPr lang="en-US" sz="1200" b="0" i="0" kern="1200" dirty="0">
                <a:solidFill>
                  <a:schemeClr val="tx1"/>
                </a:solidFill>
                <a:effectLst/>
                <a:latin typeface="+mn-lt"/>
                <a:ea typeface="+mn-ea"/>
                <a:cs typeface="+mn-cs"/>
              </a:rPr>
              <a:t>In short: the learning curve answers </a:t>
            </a:r>
            <a:r>
              <a:rPr lang="en-US" sz="1200" b="0" i="1" kern="1200" dirty="0">
                <a:solidFill>
                  <a:schemeClr val="tx1"/>
                </a:solidFill>
                <a:effectLst/>
                <a:latin typeface="+mn-lt"/>
                <a:ea typeface="+mn-ea"/>
                <a:cs typeface="+mn-cs"/>
              </a:rPr>
              <a:t>"Is my model actually learning patterns, or just memorizing the training data?"</a:t>
            </a:r>
            <a:endParaRPr lang="en-US"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These anomalies highlight common ML pitfalls: metric selection bias, overfitting without regularization, and the danger of feature leakage. Each should be addressed in a production deployment.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Final recommendation: Logistic Regression wins on the generalization test. Both models achieve identical CV F1 (~0.82), but LR does so without overfitting (gap=0.03 vs 0.12). The 2.5% recall difference is within noise range. LR's coefficients provide direct interpretability for HR teams — they can see exactly which factors contribute to each employee's risk score.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none">
            <a:spAutoFit/>
          </a:bodyPr>
          <a:lstStyle/>
          <a:p>
            <a:pPr>
              <a:defRPr sz="2400" b="1">
                <a:solidFill>
                  <a:srgbClr val="1B2A4A"/>
                </a:solidFill>
              </a:defRPr>
            </a:pPr>
            <a:r>
              <a:t>Problem Definition &amp; Approach</a:t>
            </a:r>
          </a:p>
        </p:txBody>
      </p:sp>
      <p:sp>
        <p:nvSpPr>
          <p:cNvPr id="3" name="TextBox 2"/>
          <p:cNvSpPr txBox="1"/>
          <p:nvPr/>
        </p:nvSpPr>
        <p:spPr>
          <a:xfrm>
            <a:off x="457200" y="1188720"/>
            <a:ext cx="10972800" cy="5029200"/>
          </a:xfrm>
          <a:prstGeom prst="rect">
            <a:avLst/>
          </a:prstGeom>
          <a:noFill/>
        </p:spPr>
        <p:txBody>
          <a:bodyPr wrap="square">
            <a:spAutoFit/>
          </a:bodyPr>
          <a:lstStyle/>
          <a:p>
            <a:pPr>
              <a:spcAft>
                <a:spcPts val="1000"/>
              </a:spcAft>
              <a:defRPr sz="1500">
                <a:solidFill>
                  <a:srgbClr val="333333"/>
                </a:solidFill>
              </a:defRPr>
            </a:pPr>
            <a:r>
              <a:t>Question: Which employees are at risk of burnout?</a:t>
            </a:r>
          </a:p>
          <a:p>
            <a:pPr>
              <a:spcAft>
                <a:spcPts val="1000"/>
              </a:spcAft>
              <a:defRPr sz="1500">
                <a:solidFill>
                  <a:srgbClr val="333333"/>
                </a:solidFill>
              </a:defRPr>
            </a:pPr>
            <a:endParaRPr/>
          </a:p>
          <a:p>
            <a:pPr>
              <a:spcAft>
                <a:spcPts val="1000"/>
              </a:spcAft>
              <a:defRPr sz="1500">
                <a:solidFill>
                  <a:srgbClr val="333333"/>
                </a:solidFill>
              </a:defRPr>
            </a:pPr>
            <a:r>
              <a:t>Target: burnout_binary — 1 if burnout_score ≥ 75th percentile (top 25%)</a:t>
            </a:r>
          </a:p>
          <a:p>
            <a:pPr>
              <a:spcAft>
                <a:spcPts val="1000"/>
              </a:spcAft>
              <a:defRPr sz="1500">
                <a:solidFill>
                  <a:srgbClr val="333333"/>
                </a:solidFill>
              </a:defRPr>
            </a:pPr>
            <a:endParaRPr/>
          </a:p>
          <a:p>
            <a:pPr>
              <a:spcAft>
                <a:spcPts val="1000"/>
              </a:spcAft>
              <a:defRPr sz="1500">
                <a:solidFill>
                  <a:srgbClr val="333333"/>
                </a:solidFill>
              </a:defRPr>
            </a:pPr>
            <a:r>
              <a:t>Why top 25%? Natural threshold — identifies employees significantly above</a:t>
            </a:r>
          </a:p>
          <a:p>
            <a:pPr>
              <a:spcAft>
                <a:spcPts val="1000"/>
              </a:spcAft>
              <a:defRPr sz="1500">
                <a:solidFill>
                  <a:srgbClr val="333333"/>
                </a:solidFill>
              </a:defRPr>
            </a:pPr>
            <a:r>
              <a:t>the median without being too restrictive. Balances sensitivity vs specificity.</a:t>
            </a:r>
          </a:p>
          <a:p>
            <a:pPr>
              <a:spcAft>
                <a:spcPts val="1000"/>
              </a:spcAft>
              <a:defRPr sz="1500">
                <a:solidFill>
                  <a:srgbClr val="333333"/>
                </a:solidFill>
              </a:defRPr>
            </a:pPr>
            <a:endParaRPr/>
          </a:p>
          <a:p>
            <a:pPr>
              <a:spcAft>
                <a:spcPts val="1000"/>
              </a:spcAft>
              <a:defRPr sz="1500">
                <a:solidFill>
                  <a:srgbClr val="333333"/>
                </a:solidFill>
              </a:defRPr>
            </a:pPr>
            <a:r>
              <a:t>Features: 62 encoded features (all columns except burnout_score to avoid leakage)</a:t>
            </a:r>
          </a:p>
          <a:p>
            <a:pPr>
              <a:spcAft>
                <a:spcPts val="1000"/>
              </a:spcAft>
              <a:defRPr sz="1500">
                <a:solidFill>
                  <a:srgbClr val="333333"/>
                </a:solidFill>
              </a:defRPr>
            </a:pPr>
            <a:endParaRPr/>
          </a:p>
          <a:p>
            <a:pPr>
              <a:spcAft>
                <a:spcPts val="1000"/>
              </a:spcAft>
              <a:defRPr sz="1500">
                <a:solidFill>
                  <a:srgbClr val="333333"/>
                </a:solidFill>
              </a:defRPr>
            </a:pPr>
            <a:r>
              <a:t>Models tested: Logistic Regression, Decision Tree, Random Forest,</a:t>
            </a:r>
          </a:p>
          <a:p>
            <a:pPr>
              <a:spcAft>
                <a:spcPts val="1000"/>
              </a:spcAft>
              <a:defRPr sz="1500">
                <a:solidFill>
                  <a:srgbClr val="333333"/>
                </a:solidFill>
              </a:defRPr>
            </a:pPr>
            <a:r>
              <a:t>Gradient Boosting, SVM-RBF — all with class_weight='balanced'</a:t>
            </a:r>
          </a:p>
          <a:p>
            <a:pPr>
              <a:spcAft>
                <a:spcPts val="1000"/>
              </a:spcAft>
              <a:defRPr sz="1500">
                <a:solidFill>
                  <a:srgbClr val="333333"/>
                </a:solidFill>
              </a:defRPr>
            </a:pPr>
            <a:endParaRPr/>
          </a:p>
          <a:p>
            <a:pPr>
              <a:spcAft>
                <a:spcPts val="1000"/>
              </a:spcAft>
              <a:defRPr sz="1500">
                <a:solidFill>
                  <a:srgbClr val="333333"/>
                </a:solidFill>
              </a:defRPr>
            </a:pPr>
            <a:r>
              <a:t>Class split: 26.0% burnout (positive) vs 74.0% no burnout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none">
            <a:spAutoFit/>
          </a:bodyPr>
          <a:lstStyle/>
          <a:p>
            <a:pPr>
              <a:defRPr sz="2400" b="1">
                <a:solidFill>
                  <a:srgbClr val="1B2A4A"/>
                </a:solidFill>
              </a:defRPr>
            </a:pPr>
            <a:r>
              <a:rPr lang="en-US"/>
              <a:t>Class Balance &amp; Model Comparison</a:t>
            </a:r>
          </a:p>
        </p:txBody>
      </p:sp>
      <p:sp>
        <p:nvSpPr>
          <p:cNvPr id="3" name="TextBox 2"/>
          <p:cNvSpPr txBox="1"/>
          <p:nvPr/>
        </p:nvSpPr>
        <p:spPr>
          <a:xfrm>
            <a:off x="457200" y="1188720"/>
            <a:ext cx="5029200" cy="5029200"/>
          </a:xfrm>
          <a:prstGeom prst="rect">
            <a:avLst/>
          </a:prstGeom>
          <a:noFill/>
        </p:spPr>
        <p:txBody>
          <a:bodyPr wrap="square">
            <a:spAutoFit/>
          </a:bodyPr>
          <a:lstStyle/>
          <a:p>
            <a:pPr>
              <a:spcAft>
                <a:spcPts val="800"/>
              </a:spcAft>
              <a:defRPr sz="1300">
                <a:solidFill>
                  <a:srgbClr val="333333"/>
                </a:solidFill>
              </a:defRPr>
            </a:pPr>
            <a:r>
              <a:rPr lang="en-US"/>
              <a:t>Class split: 26.0% Burnout vs 74.0% No Burnout (ratio=0.35)</a:t>
            </a:r>
          </a:p>
          <a:p>
            <a:pPr>
              <a:spcAft>
                <a:spcPts val="800"/>
              </a:spcAft>
              <a:defRPr sz="1300">
                <a:solidFill>
                  <a:srgbClr val="333333"/>
                </a:solidFill>
              </a:defRPr>
            </a:pPr>
            <a:r>
              <a:rPr lang="en-US"/>
              <a:t>• Moderate imbalance → used class_weight='balanced'</a:t>
            </a:r>
          </a:p>
          <a:p>
            <a:pPr>
              <a:spcAft>
                <a:spcPts val="800"/>
              </a:spcAft>
              <a:defRPr sz="1300">
                <a:solidFill>
                  <a:srgbClr val="333333"/>
                </a:solidFill>
              </a:defRPr>
            </a:pPr>
            <a:endParaRPr lang="en-US"/>
          </a:p>
          <a:p>
            <a:pPr>
              <a:spcAft>
                <a:spcPts val="800"/>
              </a:spcAft>
              <a:defRPr sz="1300">
                <a:solidFill>
                  <a:srgbClr val="333333"/>
                </a:solidFill>
              </a:defRPr>
            </a:pPr>
            <a:r>
              <a:rPr lang="en-US"/>
              <a:t>Top performer (weighted F1): Gradient Boost — 84.6%</a:t>
            </a:r>
          </a:p>
          <a:p>
            <a:pPr>
              <a:spcAft>
                <a:spcPts val="800"/>
              </a:spcAft>
              <a:defRPr sz="1300">
                <a:solidFill>
                  <a:srgbClr val="333333"/>
                </a:solidFill>
              </a:defRPr>
            </a:pPr>
            <a:endParaRPr lang="en-US"/>
          </a:p>
          <a:p>
            <a:pPr>
              <a:spcAft>
                <a:spcPts val="800"/>
              </a:spcAft>
              <a:defRPr sz="1300">
                <a:solidFill>
                  <a:srgbClr val="333333"/>
                </a:solidFill>
              </a:defRPr>
            </a:pPr>
            <a:r>
              <a:rPr lang="en-US"/>
              <a:t>⚠️ PITFALL: Weighted F1 hides minority class performance!</a:t>
            </a:r>
          </a:p>
          <a:p>
            <a:pPr>
              <a:spcAft>
                <a:spcPts val="800"/>
              </a:spcAft>
              <a:defRPr sz="1300">
                <a:solidFill>
                  <a:srgbClr val="333333"/>
                </a:solidFill>
              </a:defRPr>
            </a:pPr>
            <a:r>
              <a:rPr lang="en-US"/>
              <a:t>• Dominated by majority class (74% No Burnout)</a:t>
            </a:r>
          </a:p>
          <a:p>
            <a:pPr>
              <a:spcAft>
                <a:spcPts val="800"/>
              </a:spcAft>
              <a:defRPr sz="1300">
                <a:solidFill>
                  <a:srgbClr val="333333"/>
                </a:solidFill>
              </a:defRPr>
            </a:pPr>
            <a:r>
              <a:rPr lang="en-US"/>
              <a:t>• Gradient Boost looks best here but misses 37% of burnout</a:t>
            </a:r>
          </a:p>
          <a:p>
            <a:pPr>
              <a:spcAft>
                <a:spcPts val="800"/>
              </a:spcAft>
              <a:defRPr sz="1300">
                <a:solidFill>
                  <a:srgbClr val="333333"/>
                </a:solidFill>
              </a:defRPr>
            </a:pPr>
            <a:r>
              <a:rPr lang="en-US"/>
              <a:t>• Need per-class breakdown to see real detection ability</a:t>
            </a:r>
          </a:p>
          <a:p>
            <a:pPr>
              <a:spcAft>
                <a:spcPts val="800"/>
              </a:spcAft>
              <a:defRPr sz="1300">
                <a:solidFill>
                  <a:srgbClr val="333333"/>
                </a:solidFill>
              </a:defRPr>
            </a:pPr>
            <a:endParaRPr lang="en-US"/>
          </a:p>
          <a:p>
            <a:pPr>
              <a:spcAft>
                <a:spcPts val="800"/>
              </a:spcAft>
              <a:defRPr sz="1300">
                <a:solidFill>
                  <a:srgbClr val="333333"/>
                </a:solidFill>
              </a:defRPr>
            </a:pPr>
            <a:r>
              <a:rPr lang="en-US"/>
              <a:t>Key: Accuracy alone is misleading — predicting 'No Burnout'</a:t>
            </a:r>
          </a:p>
          <a:p>
            <a:pPr>
              <a:spcAft>
                <a:spcPts val="800"/>
              </a:spcAft>
              <a:defRPr sz="1300">
                <a:solidFill>
                  <a:srgbClr val="333333"/>
                </a:solidFill>
              </a:defRPr>
            </a:pPr>
            <a:r>
              <a:rPr lang="en-US"/>
              <a:t>for everyone gets ~74% accuracy but catches 0 burnout cases.</a:t>
            </a:r>
            <a:endParaRPr lang="en-US" dirty="0"/>
          </a:p>
        </p:txBody>
      </p:sp>
      <p:pic>
        <p:nvPicPr>
          <p:cNvPr id="4" name="Picture 3" descr="balance_and_comparison.png"/>
          <p:cNvPicPr>
            <a:picLocks noChangeAspect="1"/>
          </p:cNvPicPr>
          <p:nvPr/>
        </p:nvPicPr>
        <p:blipFill>
          <a:blip r:embed="rId3"/>
          <a:stretch>
            <a:fillRect/>
          </a:stretch>
        </p:blipFill>
        <p:spPr>
          <a:xfrm>
            <a:off x="5669280" y="1097280"/>
            <a:ext cx="6217920" cy="2174475"/>
          </a:xfrm>
          <a:prstGeom prst="rect">
            <a:avLst/>
          </a:prstGeom>
        </p:spPr>
      </p:pic>
      <p:pic>
        <p:nvPicPr>
          <p:cNvPr id="5" name="Picture 4" descr="confusion_matrices.png">
            <a:extLst>
              <a:ext uri="{FF2B5EF4-FFF2-40B4-BE49-F238E27FC236}">
                <a16:creationId xmlns:a16="http://schemas.microsoft.com/office/drawing/2014/main" id="{B0BB773D-8357-2387-9720-A02370566A73}"/>
              </a:ext>
            </a:extLst>
          </p:cNvPr>
          <p:cNvPicPr>
            <a:picLocks noChangeAspect="1"/>
          </p:cNvPicPr>
          <p:nvPr/>
        </p:nvPicPr>
        <p:blipFill>
          <a:blip r:embed="rId4"/>
          <a:stretch>
            <a:fillRect/>
          </a:stretch>
        </p:blipFill>
        <p:spPr>
          <a:xfrm>
            <a:off x="5987143" y="3429000"/>
            <a:ext cx="5747657" cy="324829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none">
            <a:spAutoFit/>
          </a:bodyPr>
          <a:lstStyle/>
          <a:p>
            <a:pPr>
              <a:defRPr sz="2400" b="1">
                <a:solidFill>
                  <a:srgbClr val="1B2A4A"/>
                </a:solidFill>
              </a:defRPr>
            </a:pPr>
            <a:r>
              <a:t>Per-Class Performance — Burnout Detection Focus</a:t>
            </a:r>
          </a:p>
        </p:txBody>
      </p:sp>
      <p:sp>
        <p:nvSpPr>
          <p:cNvPr id="3" name="TextBox 2"/>
          <p:cNvSpPr txBox="1"/>
          <p:nvPr/>
        </p:nvSpPr>
        <p:spPr>
          <a:xfrm>
            <a:off x="457200" y="1188720"/>
            <a:ext cx="5029200" cy="5029200"/>
          </a:xfrm>
          <a:prstGeom prst="rect">
            <a:avLst/>
          </a:prstGeom>
          <a:noFill/>
        </p:spPr>
        <p:txBody>
          <a:bodyPr wrap="square">
            <a:spAutoFit/>
          </a:bodyPr>
          <a:lstStyle/>
          <a:p>
            <a:pPr>
              <a:spcAft>
                <a:spcPts val="800"/>
              </a:spcAft>
              <a:defRPr sz="1300">
                <a:solidFill>
                  <a:srgbClr val="333333"/>
                </a:solidFill>
              </a:defRPr>
            </a:pPr>
            <a:r>
              <a:rPr dirty="0"/>
              <a:t>Weighted metrics hide minority class performance.</a:t>
            </a:r>
          </a:p>
          <a:p>
            <a:pPr>
              <a:spcAft>
                <a:spcPts val="800"/>
              </a:spcAft>
              <a:defRPr sz="1300">
                <a:solidFill>
                  <a:srgbClr val="333333"/>
                </a:solidFill>
              </a:defRPr>
            </a:pPr>
            <a:r>
              <a:rPr dirty="0"/>
              <a:t>Per-class breakdown reveals the real story:</a:t>
            </a:r>
          </a:p>
          <a:p>
            <a:pPr>
              <a:spcAft>
                <a:spcPts val="800"/>
              </a:spcAft>
              <a:defRPr sz="1300">
                <a:solidFill>
                  <a:srgbClr val="333333"/>
                </a:solidFill>
              </a:defRPr>
            </a:pPr>
            <a:endParaRPr dirty="0"/>
          </a:p>
          <a:p>
            <a:pPr>
              <a:spcAft>
                <a:spcPts val="800"/>
              </a:spcAft>
              <a:defRPr sz="1300">
                <a:solidFill>
                  <a:srgbClr val="333333"/>
                </a:solidFill>
              </a:defRPr>
            </a:pPr>
            <a:r>
              <a:rPr dirty="0"/>
              <a:t>Model           | Burnout </a:t>
            </a:r>
            <a:r>
              <a:rPr dirty="0" err="1"/>
              <a:t>Prec</a:t>
            </a:r>
            <a:r>
              <a:rPr dirty="0"/>
              <a:t> | Recall | F1</a:t>
            </a:r>
          </a:p>
          <a:p>
            <a:pPr>
              <a:spcAft>
                <a:spcPts val="800"/>
              </a:spcAft>
              <a:defRPr sz="1300">
                <a:solidFill>
                  <a:srgbClr val="333333"/>
                </a:solidFill>
              </a:defRPr>
            </a:pPr>
            <a:r>
              <a:rPr dirty="0"/>
              <a:t>—————————————————————————————————————————————</a:t>
            </a:r>
          </a:p>
          <a:p>
            <a:pPr>
              <a:spcAft>
                <a:spcPts val="800"/>
              </a:spcAft>
              <a:defRPr sz="1300">
                <a:solidFill>
                  <a:srgbClr val="333333"/>
                </a:solidFill>
              </a:defRPr>
            </a:pPr>
            <a:r>
              <a:rPr dirty="0"/>
              <a:t>SVM-RBF         |   0.635      | 0.846  | 0.725 ← BEST</a:t>
            </a:r>
          </a:p>
          <a:p>
            <a:pPr>
              <a:spcAft>
                <a:spcPts val="800"/>
              </a:spcAft>
              <a:defRPr sz="1300">
                <a:solidFill>
                  <a:srgbClr val="333333"/>
                </a:solidFill>
              </a:defRPr>
            </a:pPr>
            <a:r>
              <a:rPr dirty="0"/>
              <a:t>Logistic Reg    |   0.640      | 0.821  | 0.719</a:t>
            </a:r>
          </a:p>
          <a:p>
            <a:pPr>
              <a:spcAft>
                <a:spcPts val="800"/>
              </a:spcAft>
              <a:defRPr sz="1300">
                <a:solidFill>
                  <a:srgbClr val="333333"/>
                </a:solidFill>
              </a:defRPr>
            </a:pPr>
            <a:r>
              <a:rPr dirty="0"/>
              <a:t>Gradient Boost  |   0.742      | 0.628  | 0.681</a:t>
            </a:r>
          </a:p>
          <a:p>
            <a:pPr>
              <a:spcAft>
                <a:spcPts val="800"/>
              </a:spcAft>
              <a:defRPr sz="1300">
                <a:solidFill>
                  <a:srgbClr val="333333"/>
                </a:solidFill>
              </a:defRPr>
            </a:pPr>
            <a:r>
              <a:rPr dirty="0"/>
              <a:t>Random Forest   |   0.830      | 0.500  | 0.624</a:t>
            </a:r>
          </a:p>
          <a:p>
            <a:pPr>
              <a:spcAft>
                <a:spcPts val="800"/>
              </a:spcAft>
              <a:defRPr sz="1300">
                <a:solidFill>
                  <a:srgbClr val="333333"/>
                </a:solidFill>
              </a:defRPr>
            </a:pPr>
            <a:r>
              <a:rPr dirty="0"/>
              <a:t>Decision Tree   |   0.567      | 0.487  | 0.524</a:t>
            </a:r>
          </a:p>
          <a:p>
            <a:pPr>
              <a:spcAft>
                <a:spcPts val="800"/>
              </a:spcAft>
              <a:defRPr sz="1300">
                <a:solidFill>
                  <a:srgbClr val="333333"/>
                </a:solidFill>
              </a:defRPr>
            </a:pPr>
            <a:endParaRPr dirty="0"/>
          </a:p>
          <a:p>
            <a:pPr>
              <a:spcAft>
                <a:spcPts val="800"/>
              </a:spcAft>
              <a:defRPr sz="1300">
                <a:solidFill>
                  <a:srgbClr val="333333"/>
                </a:solidFill>
              </a:defRPr>
            </a:pPr>
            <a:r>
              <a:rPr dirty="0"/>
              <a:t>⚠️ Gradient Boost looks #1 on weighted F1 but misses 37%</a:t>
            </a:r>
          </a:p>
          <a:p>
            <a:pPr>
              <a:spcAft>
                <a:spcPts val="800"/>
              </a:spcAft>
              <a:defRPr sz="1300">
                <a:solidFill>
                  <a:srgbClr val="333333"/>
                </a:solidFill>
              </a:defRPr>
            </a:pPr>
            <a:r>
              <a:rPr dirty="0"/>
              <a:t>of burnout cases. SVM-RBF/Logistic Reg catch 82-85%.</a:t>
            </a:r>
          </a:p>
          <a:p>
            <a:pPr>
              <a:spcAft>
                <a:spcPts val="800"/>
              </a:spcAft>
              <a:defRPr sz="1300">
                <a:solidFill>
                  <a:srgbClr val="333333"/>
                </a:solidFill>
              </a:defRPr>
            </a:pPr>
            <a:endParaRPr dirty="0"/>
          </a:p>
          <a:p>
            <a:pPr>
              <a:spcAft>
                <a:spcPts val="800"/>
              </a:spcAft>
              <a:defRPr sz="1300">
                <a:solidFill>
                  <a:srgbClr val="333333"/>
                </a:solidFill>
              </a:defRPr>
            </a:pPr>
            <a:r>
              <a:rPr dirty="0"/>
              <a:t>For HR: Better to flag &amp; check unnecessarily than miss burnout.</a:t>
            </a:r>
          </a:p>
        </p:txBody>
      </p:sp>
      <p:pic>
        <p:nvPicPr>
          <p:cNvPr id="4" name="Picture 3" descr="f1_heatmap.png"/>
          <p:cNvPicPr>
            <a:picLocks noChangeAspect="1"/>
          </p:cNvPicPr>
          <p:nvPr/>
        </p:nvPicPr>
        <p:blipFill>
          <a:blip r:embed="rId3"/>
          <a:stretch>
            <a:fillRect/>
          </a:stretch>
        </p:blipFill>
        <p:spPr>
          <a:xfrm>
            <a:off x="5669280" y="1097280"/>
            <a:ext cx="6217920" cy="31362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none">
            <a:spAutoFit/>
          </a:bodyPr>
          <a:lstStyle/>
          <a:p>
            <a:pPr>
              <a:defRPr sz="2400" b="1">
                <a:solidFill>
                  <a:srgbClr val="1B2A4A"/>
                </a:solidFill>
              </a:defRPr>
            </a:pPr>
            <a:r>
              <a:t>ROC Curves — Discrimination Ability</a:t>
            </a:r>
          </a:p>
        </p:txBody>
      </p:sp>
      <p:sp>
        <p:nvSpPr>
          <p:cNvPr id="3" name="TextBox 2"/>
          <p:cNvSpPr txBox="1"/>
          <p:nvPr/>
        </p:nvSpPr>
        <p:spPr>
          <a:xfrm>
            <a:off x="457200" y="1188720"/>
            <a:ext cx="5029200" cy="3924151"/>
          </a:xfrm>
          <a:prstGeom prst="rect">
            <a:avLst/>
          </a:prstGeom>
          <a:noFill/>
        </p:spPr>
        <p:txBody>
          <a:bodyPr wrap="square">
            <a:spAutoFit/>
          </a:bodyPr>
          <a:lstStyle/>
          <a:p>
            <a:pPr>
              <a:spcAft>
                <a:spcPts val="800"/>
              </a:spcAft>
              <a:defRPr sz="1300">
                <a:solidFill>
                  <a:srgbClr val="333333"/>
                </a:solidFill>
              </a:defRPr>
            </a:pPr>
            <a:r>
              <a:rPr dirty="0"/>
              <a:t>AUC Rankings:</a:t>
            </a:r>
          </a:p>
          <a:p>
            <a:pPr>
              <a:spcAft>
                <a:spcPts val="800"/>
              </a:spcAft>
              <a:defRPr sz="1300">
                <a:solidFill>
                  <a:srgbClr val="333333"/>
                </a:solidFill>
              </a:defRPr>
            </a:pPr>
            <a:r>
              <a:rPr dirty="0"/>
              <a:t>  1. SVM-RBF: 0.913</a:t>
            </a:r>
          </a:p>
          <a:p>
            <a:pPr>
              <a:spcAft>
                <a:spcPts val="800"/>
              </a:spcAft>
              <a:defRPr sz="1300">
                <a:solidFill>
                  <a:srgbClr val="333333"/>
                </a:solidFill>
              </a:defRPr>
            </a:pPr>
            <a:r>
              <a:rPr dirty="0"/>
              <a:t>  2. Logistic Reg: 0.913</a:t>
            </a:r>
          </a:p>
          <a:p>
            <a:pPr>
              <a:spcAft>
                <a:spcPts val="800"/>
              </a:spcAft>
              <a:defRPr sz="1300">
                <a:solidFill>
                  <a:srgbClr val="333333"/>
                </a:solidFill>
              </a:defRPr>
            </a:pPr>
            <a:r>
              <a:rPr dirty="0"/>
              <a:t>  3. Random Forest: 0.911</a:t>
            </a:r>
          </a:p>
          <a:p>
            <a:pPr>
              <a:spcAft>
                <a:spcPts val="800"/>
              </a:spcAft>
              <a:defRPr sz="1300">
                <a:solidFill>
                  <a:srgbClr val="333333"/>
                </a:solidFill>
              </a:defRPr>
            </a:pPr>
            <a:r>
              <a:rPr dirty="0"/>
              <a:t>  4. Gradient Boost: 0.902</a:t>
            </a:r>
          </a:p>
          <a:p>
            <a:pPr>
              <a:spcAft>
                <a:spcPts val="800"/>
              </a:spcAft>
              <a:defRPr sz="1300">
                <a:solidFill>
                  <a:srgbClr val="333333"/>
                </a:solidFill>
              </a:defRPr>
            </a:pPr>
            <a:r>
              <a:rPr dirty="0"/>
              <a:t>  5. Decision Tree: 0.678</a:t>
            </a:r>
          </a:p>
          <a:p>
            <a:pPr>
              <a:spcAft>
                <a:spcPts val="800"/>
              </a:spcAft>
              <a:defRPr sz="1300">
                <a:solidFill>
                  <a:srgbClr val="333333"/>
                </a:solidFill>
              </a:defRPr>
            </a:pPr>
            <a:endParaRPr dirty="0"/>
          </a:p>
          <a:p>
            <a:pPr>
              <a:spcAft>
                <a:spcPts val="800"/>
              </a:spcAft>
              <a:defRPr sz="1300">
                <a:solidFill>
                  <a:srgbClr val="333333"/>
                </a:solidFill>
              </a:defRPr>
            </a:pPr>
            <a:r>
              <a:rPr dirty="0"/>
              <a:t>Thought process:</a:t>
            </a:r>
          </a:p>
          <a:p>
            <a:pPr>
              <a:spcAft>
                <a:spcPts val="800"/>
              </a:spcAft>
              <a:defRPr sz="1300">
                <a:solidFill>
                  <a:srgbClr val="333333"/>
                </a:solidFill>
              </a:defRPr>
            </a:pPr>
            <a:r>
              <a:rPr dirty="0"/>
              <a:t>• AUC &gt; 0.9 for top 4 models — strong discrimination</a:t>
            </a:r>
          </a:p>
          <a:p>
            <a:pPr>
              <a:spcAft>
                <a:spcPts val="800"/>
              </a:spcAft>
              <a:defRPr sz="1300">
                <a:solidFill>
                  <a:srgbClr val="333333"/>
                </a:solidFill>
              </a:defRPr>
            </a:pPr>
            <a:r>
              <a:rPr dirty="0"/>
              <a:t>• Decision Tree AUC ~0.68 — barely better than random</a:t>
            </a:r>
          </a:p>
          <a:p>
            <a:pPr>
              <a:spcAft>
                <a:spcPts val="800"/>
              </a:spcAft>
              <a:defRPr sz="1300">
                <a:solidFill>
                  <a:srgbClr val="333333"/>
                </a:solidFill>
              </a:defRPr>
            </a:pPr>
            <a:endParaRPr dirty="0"/>
          </a:p>
          <a:p>
            <a:pPr>
              <a:spcAft>
                <a:spcPts val="800"/>
              </a:spcAft>
              <a:defRPr sz="1300">
                <a:solidFill>
                  <a:srgbClr val="333333"/>
                </a:solidFill>
              </a:defRPr>
            </a:pPr>
            <a:r>
              <a:rPr dirty="0"/>
              <a:t>⚠️ ANOMALY: Decision Tree performs far worse than others.</a:t>
            </a:r>
          </a:p>
          <a:p>
            <a:pPr>
              <a:spcAft>
                <a:spcPts val="800"/>
              </a:spcAft>
              <a:defRPr sz="1300">
                <a:solidFill>
                  <a:srgbClr val="333333"/>
                </a:solidFill>
              </a:defRPr>
            </a:pPr>
            <a:r>
              <a:rPr dirty="0"/>
              <a:t>Likely overfitting to training data</a:t>
            </a:r>
          </a:p>
        </p:txBody>
      </p:sp>
      <p:pic>
        <p:nvPicPr>
          <p:cNvPr id="4" name="Picture 3" descr="roc_curves.png"/>
          <p:cNvPicPr>
            <a:picLocks noChangeAspect="1"/>
          </p:cNvPicPr>
          <p:nvPr/>
        </p:nvPicPr>
        <p:blipFill>
          <a:blip r:embed="rId3"/>
          <a:stretch>
            <a:fillRect/>
          </a:stretch>
        </p:blipFill>
        <p:spPr>
          <a:xfrm>
            <a:off x="5669280" y="1097280"/>
            <a:ext cx="6217920" cy="542481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none">
            <a:spAutoFit/>
          </a:bodyPr>
          <a:lstStyle/>
          <a:p>
            <a:pPr>
              <a:defRPr sz="2400" b="1">
                <a:solidFill>
                  <a:srgbClr val="1B2A4A"/>
                </a:solidFill>
              </a:defRPr>
            </a:pPr>
            <a:r>
              <a:t>LASSO Feature Importance — What Drives Burnout?</a:t>
            </a:r>
          </a:p>
        </p:txBody>
      </p:sp>
      <p:sp>
        <p:nvSpPr>
          <p:cNvPr id="3" name="TextBox 2"/>
          <p:cNvSpPr txBox="1"/>
          <p:nvPr/>
        </p:nvSpPr>
        <p:spPr>
          <a:xfrm>
            <a:off x="457200" y="1188720"/>
            <a:ext cx="5029200" cy="5134739"/>
          </a:xfrm>
          <a:prstGeom prst="rect">
            <a:avLst/>
          </a:prstGeom>
          <a:noFill/>
        </p:spPr>
        <p:txBody>
          <a:bodyPr wrap="square">
            <a:spAutoFit/>
          </a:bodyPr>
          <a:lstStyle/>
          <a:p>
            <a:pPr>
              <a:spcAft>
                <a:spcPts val="800"/>
              </a:spcAft>
              <a:defRPr sz="1300">
                <a:solidFill>
                  <a:srgbClr val="333333"/>
                </a:solidFill>
              </a:defRPr>
            </a:pPr>
            <a:r>
              <a:rPr dirty="0"/>
              <a:t>L1 regularization kept 56/62 features</a:t>
            </a:r>
          </a:p>
          <a:p>
            <a:pPr>
              <a:spcAft>
                <a:spcPts val="800"/>
              </a:spcAft>
              <a:defRPr sz="1300">
                <a:solidFill>
                  <a:srgbClr val="333333"/>
                </a:solidFill>
              </a:defRPr>
            </a:pPr>
            <a:r>
              <a:rPr dirty="0"/>
              <a:t>(eliminated 6 as irrelevant).</a:t>
            </a:r>
          </a:p>
          <a:p>
            <a:pPr>
              <a:spcAft>
                <a:spcPts val="800"/>
              </a:spcAft>
              <a:defRPr sz="1300">
                <a:solidFill>
                  <a:srgbClr val="333333"/>
                </a:solidFill>
              </a:defRPr>
            </a:pPr>
            <a:endParaRPr dirty="0"/>
          </a:p>
          <a:p>
            <a:pPr>
              <a:spcAft>
                <a:spcPts val="800"/>
              </a:spcAft>
              <a:defRPr sz="1300">
                <a:solidFill>
                  <a:srgbClr val="333333"/>
                </a:solidFill>
              </a:defRPr>
            </a:pPr>
            <a:r>
              <a:rPr dirty="0"/>
              <a:t>🔴 INCREASES burnout risk:</a:t>
            </a:r>
          </a:p>
          <a:p>
            <a:pPr>
              <a:spcAft>
                <a:spcPts val="800"/>
              </a:spcAft>
              <a:defRPr sz="1300">
                <a:solidFill>
                  <a:srgbClr val="333333"/>
                </a:solidFill>
              </a:defRPr>
            </a:pPr>
            <a:r>
              <a:rPr dirty="0"/>
              <a:t>  • </a:t>
            </a:r>
            <a:r>
              <a:rPr dirty="0" err="1"/>
              <a:t>ai_replaces_my_tasks_pct</a:t>
            </a:r>
            <a:r>
              <a:rPr dirty="0"/>
              <a:t> (STRONGEST)</a:t>
            </a:r>
          </a:p>
          <a:p>
            <a:pPr>
              <a:spcAft>
                <a:spcPts val="800"/>
              </a:spcAft>
              <a:defRPr sz="1300">
                <a:solidFill>
                  <a:srgbClr val="333333"/>
                </a:solidFill>
              </a:defRPr>
            </a:pPr>
            <a:r>
              <a:rPr dirty="0"/>
              <a:t>  • </a:t>
            </a:r>
            <a:r>
              <a:rPr dirty="0" err="1"/>
              <a:t>hours_with_ai_assistance_daily</a:t>
            </a:r>
            <a:endParaRPr dirty="0"/>
          </a:p>
          <a:p>
            <a:pPr>
              <a:spcAft>
                <a:spcPts val="800"/>
              </a:spcAft>
              <a:defRPr sz="1300">
                <a:solidFill>
                  <a:srgbClr val="333333"/>
                </a:solidFill>
              </a:defRPr>
            </a:pPr>
            <a:r>
              <a:rPr dirty="0"/>
              <a:t>  • </a:t>
            </a:r>
            <a:r>
              <a:rPr dirty="0" err="1"/>
              <a:t>fear_of_ai_replacement</a:t>
            </a:r>
            <a:r>
              <a:rPr dirty="0"/>
              <a:t> (Low/Medium levels)</a:t>
            </a:r>
          </a:p>
          <a:p>
            <a:pPr>
              <a:spcAft>
                <a:spcPts val="800"/>
              </a:spcAft>
              <a:defRPr sz="1300">
                <a:solidFill>
                  <a:srgbClr val="333333"/>
                </a:solidFill>
              </a:defRPr>
            </a:pPr>
            <a:r>
              <a:rPr dirty="0"/>
              <a:t>  • Industries: EdTech, Gaming, E-commerce</a:t>
            </a:r>
          </a:p>
          <a:p>
            <a:pPr>
              <a:spcAft>
                <a:spcPts val="800"/>
              </a:spcAft>
              <a:defRPr sz="1300">
                <a:solidFill>
                  <a:srgbClr val="333333"/>
                </a:solidFill>
              </a:defRPr>
            </a:pPr>
            <a:endParaRPr dirty="0"/>
          </a:p>
          <a:p>
            <a:pPr>
              <a:spcAft>
                <a:spcPts val="800"/>
              </a:spcAft>
              <a:defRPr sz="1300">
                <a:solidFill>
                  <a:srgbClr val="333333"/>
                </a:solidFill>
              </a:defRPr>
            </a:pPr>
            <a:r>
              <a:rPr dirty="0"/>
              <a:t>🔵 DECREASES burnout risk:</a:t>
            </a:r>
          </a:p>
          <a:p>
            <a:pPr>
              <a:spcAft>
                <a:spcPts val="800"/>
              </a:spcAft>
              <a:defRPr sz="1300">
                <a:solidFill>
                  <a:srgbClr val="333333"/>
                </a:solidFill>
              </a:defRPr>
            </a:pPr>
            <a:r>
              <a:rPr dirty="0"/>
              <a:t>  • </a:t>
            </a:r>
            <a:r>
              <a:rPr dirty="0" err="1"/>
              <a:t>attrition_risk_Low</a:t>
            </a:r>
            <a:r>
              <a:rPr dirty="0"/>
              <a:t> (strongest protector)</a:t>
            </a:r>
          </a:p>
          <a:p>
            <a:pPr>
              <a:spcAft>
                <a:spcPts val="800"/>
              </a:spcAft>
              <a:defRPr sz="1300">
                <a:solidFill>
                  <a:srgbClr val="333333"/>
                </a:solidFill>
              </a:defRPr>
            </a:pPr>
            <a:r>
              <a:rPr dirty="0"/>
              <a:t>  • job_satisfaction_1_5</a:t>
            </a:r>
          </a:p>
          <a:p>
            <a:pPr>
              <a:spcAft>
                <a:spcPts val="800"/>
              </a:spcAft>
              <a:defRPr sz="1300">
                <a:solidFill>
                  <a:srgbClr val="333333"/>
                </a:solidFill>
              </a:defRPr>
            </a:pPr>
            <a:r>
              <a:rPr dirty="0"/>
              <a:t>  • </a:t>
            </a:r>
            <a:r>
              <a:rPr dirty="0" err="1"/>
              <a:t>attrition_risk_Medium</a:t>
            </a:r>
            <a:endParaRPr dirty="0"/>
          </a:p>
          <a:p>
            <a:pPr>
              <a:spcAft>
                <a:spcPts val="800"/>
              </a:spcAft>
              <a:defRPr sz="1300">
                <a:solidFill>
                  <a:srgbClr val="333333"/>
                </a:solidFill>
              </a:defRPr>
            </a:pPr>
            <a:r>
              <a:rPr dirty="0"/>
              <a:t>  • </a:t>
            </a:r>
            <a:r>
              <a:rPr dirty="0" err="1"/>
              <a:t>job_role_Prompt</a:t>
            </a:r>
            <a:r>
              <a:rPr dirty="0"/>
              <a:t> Engineer</a:t>
            </a:r>
          </a:p>
          <a:p>
            <a:pPr>
              <a:spcAft>
                <a:spcPts val="800"/>
              </a:spcAft>
              <a:defRPr sz="1300">
                <a:solidFill>
                  <a:srgbClr val="333333"/>
                </a:solidFill>
              </a:defRPr>
            </a:pPr>
            <a:endParaRPr dirty="0"/>
          </a:p>
          <a:p>
            <a:pPr>
              <a:spcAft>
                <a:spcPts val="800"/>
              </a:spcAft>
              <a:defRPr sz="1300">
                <a:solidFill>
                  <a:srgbClr val="333333"/>
                </a:solidFill>
              </a:defRPr>
            </a:pPr>
            <a:r>
              <a:rPr dirty="0"/>
              <a:t>Thought process: LASSO used post-</a:t>
            </a:r>
            <a:r>
              <a:rPr lang="en-US" dirty="0"/>
              <a:t>fitting</a:t>
            </a:r>
            <a:r>
              <a:rPr dirty="0"/>
              <a:t> for interpretability,</a:t>
            </a:r>
          </a:p>
          <a:p>
            <a:pPr>
              <a:spcAft>
                <a:spcPts val="800"/>
              </a:spcAft>
              <a:defRPr sz="1300">
                <a:solidFill>
                  <a:srgbClr val="333333"/>
                </a:solidFill>
              </a:defRPr>
            </a:pPr>
            <a:r>
              <a:rPr dirty="0"/>
              <a:t>not for feature selection before training.</a:t>
            </a:r>
          </a:p>
        </p:txBody>
      </p:sp>
      <p:pic>
        <p:nvPicPr>
          <p:cNvPr id="4" name="Picture 3" descr="lasso_features.png"/>
          <p:cNvPicPr>
            <a:picLocks noChangeAspect="1"/>
          </p:cNvPicPr>
          <p:nvPr/>
        </p:nvPicPr>
        <p:blipFill>
          <a:blip r:embed="rId3"/>
          <a:stretch>
            <a:fillRect/>
          </a:stretch>
        </p:blipFill>
        <p:spPr>
          <a:xfrm>
            <a:off x="5669280" y="1097280"/>
            <a:ext cx="6217920" cy="36903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none">
            <a:spAutoFit/>
          </a:bodyPr>
          <a:lstStyle/>
          <a:p>
            <a:pPr>
              <a:defRPr sz="2400" b="1">
                <a:solidFill>
                  <a:srgbClr val="1B2A4A"/>
                </a:solidFill>
              </a:defRPr>
            </a:pPr>
            <a:r>
              <a:t>Overfitting Analysis — SVM-RBF vs Logistic Regression</a:t>
            </a:r>
          </a:p>
        </p:txBody>
      </p:sp>
      <p:sp>
        <p:nvSpPr>
          <p:cNvPr id="3" name="TextBox 2"/>
          <p:cNvSpPr txBox="1"/>
          <p:nvPr/>
        </p:nvSpPr>
        <p:spPr>
          <a:xfrm>
            <a:off x="457200" y="1188720"/>
            <a:ext cx="5029200" cy="4832092"/>
          </a:xfrm>
          <a:prstGeom prst="rect">
            <a:avLst/>
          </a:prstGeom>
          <a:noFill/>
        </p:spPr>
        <p:txBody>
          <a:bodyPr wrap="square">
            <a:spAutoFit/>
          </a:bodyPr>
          <a:lstStyle/>
          <a:p>
            <a:pPr>
              <a:spcAft>
                <a:spcPts val="800"/>
              </a:spcAft>
              <a:defRPr sz="1300">
                <a:solidFill>
                  <a:srgbClr val="333333"/>
                </a:solidFill>
              </a:defRPr>
            </a:pPr>
            <a:r>
              <a:rPr dirty="0"/>
              <a:t>Learning curves reveal generalization quality:</a:t>
            </a:r>
          </a:p>
          <a:p>
            <a:pPr>
              <a:spcAft>
                <a:spcPts val="800"/>
              </a:spcAft>
              <a:defRPr sz="1300">
                <a:solidFill>
                  <a:srgbClr val="333333"/>
                </a:solidFill>
              </a:defRPr>
            </a:pPr>
            <a:endParaRPr dirty="0"/>
          </a:p>
          <a:p>
            <a:pPr>
              <a:spcAft>
                <a:spcPts val="800"/>
              </a:spcAft>
              <a:defRPr sz="1300">
                <a:solidFill>
                  <a:srgbClr val="333333"/>
                </a:solidFill>
              </a:defRPr>
            </a:pPr>
            <a:r>
              <a:rPr dirty="0"/>
              <a:t>Metric               | SVM-RBF    | Logistic Reg</a:t>
            </a:r>
          </a:p>
          <a:p>
            <a:pPr>
              <a:spcAft>
                <a:spcPts val="800"/>
              </a:spcAft>
              <a:defRPr sz="1300">
                <a:solidFill>
                  <a:srgbClr val="333333"/>
                </a:solidFill>
              </a:defRPr>
            </a:pPr>
            <a:r>
              <a:rPr dirty="0"/>
              <a:t>———————————————————</a:t>
            </a:r>
          </a:p>
          <a:p>
            <a:pPr>
              <a:spcAft>
                <a:spcPts val="800"/>
              </a:spcAft>
              <a:defRPr sz="1300">
                <a:solidFill>
                  <a:srgbClr val="333333"/>
                </a:solidFill>
              </a:defRPr>
            </a:pPr>
            <a:r>
              <a:rPr dirty="0"/>
              <a:t>Training F1          | ~0.95      | ~0.85</a:t>
            </a:r>
          </a:p>
          <a:p>
            <a:pPr>
              <a:spcAft>
                <a:spcPts val="800"/>
              </a:spcAft>
              <a:defRPr sz="1300">
                <a:solidFill>
                  <a:srgbClr val="333333"/>
                </a:solidFill>
              </a:defRPr>
            </a:pPr>
            <a:r>
              <a:rPr dirty="0"/>
              <a:t>Cross-Val F1         | ~0.82      | ~0.82</a:t>
            </a:r>
          </a:p>
          <a:p>
            <a:pPr>
              <a:spcAft>
                <a:spcPts val="800"/>
              </a:spcAft>
              <a:defRPr sz="1300">
                <a:solidFill>
                  <a:srgbClr val="333333"/>
                </a:solidFill>
              </a:defRPr>
            </a:pPr>
            <a:r>
              <a:rPr dirty="0"/>
              <a:t>Overfit Gap          | ~0.12 ⚠️   | ~0.03 ✅</a:t>
            </a:r>
          </a:p>
          <a:p>
            <a:pPr>
              <a:spcAft>
                <a:spcPts val="800"/>
              </a:spcAft>
              <a:defRPr sz="1300">
                <a:solidFill>
                  <a:srgbClr val="333333"/>
                </a:solidFill>
              </a:defRPr>
            </a:pPr>
            <a:endParaRPr dirty="0"/>
          </a:p>
          <a:p>
            <a:pPr>
              <a:spcAft>
                <a:spcPts val="800"/>
              </a:spcAft>
              <a:defRPr sz="1300">
                <a:solidFill>
                  <a:srgbClr val="333333"/>
                </a:solidFill>
              </a:defRPr>
            </a:pPr>
            <a:r>
              <a:rPr dirty="0"/>
              <a:t>Key insight:</a:t>
            </a:r>
          </a:p>
          <a:p>
            <a:pPr>
              <a:spcAft>
                <a:spcPts val="800"/>
              </a:spcAft>
              <a:defRPr sz="1300">
                <a:solidFill>
                  <a:srgbClr val="333333"/>
                </a:solidFill>
              </a:defRPr>
            </a:pPr>
            <a:r>
              <a:rPr dirty="0"/>
              <a:t>• Both achieve SAME CV F1 (~0.82)</a:t>
            </a:r>
          </a:p>
          <a:p>
            <a:pPr>
              <a:spcAft>
                <a:spcPts val="800"/>
              </a:spcAft>
              <a:defRPr sz="1300">
                <a:solidFill>
                  <a:srgbClr val="333333"/>
                </a:solidFill>
              </a:defRPr>
            </a:pPr>
            <a:r>
              <a:rPr dirty="0"/>
              <a:t>• SVM-RBF memorizes training data (Train=0.95)</a:t>
            </a:r>
          </a:p>
          <a:p>
            <a:pPr>
              <a:spcAft>
                <a:spcPts val="800"/>
              </a:spcAft>
              <a:defRPr sz="1300">
                <a:solidFill>
                  <a:srgbClr val="333333"/>
                </a:solidFill>
              </a:defRPr>
            </a:pPr>
            <a:r>
              <a:rPr dirty="0"/>
              <a:t>• Logistic Reg generalizes honestly</a:t>
            </a:r>
            <a:r>
              <a:rPr lang="en-US" dirty="0"/>
              <a:t> (Train ≈ CV)</a:t>
            </a:r>
          </a:p>
          <a:p>
            <a:pPr>
              <a:spcAft>
                <a:spcPts val="800"/>
              </a:spcAft>
              <a:defRPr sz="1300">
                <a:solidFill>
                  <a:srgbClr val="333333"/>
                </a:solidFill>
              </a:defRPr>
            </a:pPr>
            <a:endParaRPr lang="en-US" dirty="0"/>
          </a:p>
          <a:p>
            <a:pPr>
              <a:spcAft>
                <a:spcPts val="800"/>
              </a:spcAft>
              <a:defRPr sz="1300">
                <a:solidFill>
                  <a:srgbClr val="333333"/>
                </a:solidFill>
              </a:defRPr>
            </a:pPr>
            <a:r>
              <a:rPr dirty="0"/>
              <a:t>Verdict: SVM-RBF's extra complexity adds </a:t>
            </a:r>
            <a:r>
              <a:rPr lang="en-US" dirty="0"/>
              <a:t>minor </a:t>
            </a:r>
            <a:r>
              <a:rPr dirty="0"/>
              <a:t>overfitting</a:t>
            </a:r>
          </a:p>
          <a:p>
            <a:pPr>
              <a:spcAft>
                <a:spcPts val="800"/>
              </a:spcAft>
              <a:defRPr sz="1300">
                <a:solidFill>
                  <a:srgbClr val="333333"/>
                </a:solidFill>
              </a:defRPr>
            </a:pPr>
            <a:r>
              <a:rPr dirty="0"/>
              <a:t>without improving real-world performance.</a:t>
            </a:r>
          </a:p>
          <a:p>
            <a:pPr>
              <a:spcAft>
                <a:spcPts val="800"/>
              </a:spcAft>
              <a:defRPr sz="1300">
                <a:solidFill>
                  <a:srgbClr val="333333"/>
                </a:solidFill>
              </a:defRPr>
            </a:pPr>
            <a:r>
              <a:rPr dirty="0"/>
              <a:t>Logistic Regression is the more reliable model</a:t>
            </a:r>
            <a:r>
              <a:rPr lang="en-US" dirty="0"/>
              <a:t> in this case.</a:t>
            </a:r>
            <a:endParaRPr dirty="0"/>
          </a:p>
        </p:txBody>
      </p:sp>
      <p:pic>
        <p:nvPicPr>
          <p:cNvPr id="4" name="Picture 3" descr="overfitting_comparison.png"/>
          <p:cNvPicPr>
            <a:picLocks noChangeAspect="1"/>
          </p:cNvPicPr>
          <p:nvPr/>
        </p:nvPicPr>
        <p:blipFill>
          <a:blip r:embed="rId3"/>
          <a:stretch>
            <a:fillRect/>
          </a:stretch>
        </p:blipFill>
        <p:spPr>
          <a:xfrm>
            <a:off x="5669280" y="1097280"/>
            <a:ext cx="6217920" cy="221041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none">
            <a:spAutoFit/>
          </a:bodyPr>
          <a:lstStyle/>
          <a:p>
            <a:pPr>
              <a:defRPr sz="2400" b="1">
                <a:solidFill>
                  <a:srgbClr val="1B2A4A"/>
                </a:solidFill>
              </a:defRPr>
            </a:pPr>
            <a:r>
              <a:t>Anomalies &amp; Pitfalls Identified</a:t>
            </a:r>
          </a:p>
        </p:txBody>
      </p:sp>
      <p:sp>
        <p:nvSpPr>
          <p:cNvPr id="3" name="TextBox 2"/>
          <p:cNvSpPr txBox="1"/>
          <p:nvPr/>
        </p:nvSpPr>
        <p:spPr>
          <a:xfrm>
            <a:off x="457200" y="829491"/>
            <a:ext cx="10972800" cy="5709255"/>
          </a:xfrm>
          <a:prstGeom prst="rect">
            <a:avLst/>
          </a:prstGeom>
          <a:noFill/>
        </p:spPr>
        <p:txBody>
          <a:bodyPr wrap="square">
            <a:spAutoFit/>
          </a:bodyPr>
          <a:lstStyle/>
          <a:p>
            <a:pPr>
              <a:spcAft>
                <a:spcPts val="1000"/>
              </a:spcAft>
              <a:defRPr sz="1500">
                <a:solidFill>
                  <a:srgbClr val="333333"/>
                </a:solidFill>
              </a:defRPr>
            </a:pPr>
            <a:r>
              <a:rPr dirty="0"/>
              <a:t>1. WEIGHTED METRIC DECEPTION</a:t>
            </a:r>
          </a:p>
          <a:p>
            <a:pPr>
              <a:spcAft>
                <a:spcPts val="1000"/>
              </a:spcAft>
              <a:defRPr sz="1500">
                <a:solidFill>
                  <a:srgbClr val="333333"/>
                </a:solidFill>
              </a:defRPr>
            </a:pPr>
            <a:r>
              <a:rPr dirty="0"/>
              <a:t>   Gradient Boost appeared #1 (Weighted F1=0.846) but misses 37%</a:t>
            </a:r>
          </a:p>
          <a:p>
            <a:pPr>
              <a:spcAft>
                <a:spcPts val="1000"/>
              </a:spcAft>
              <a:defRPr sz="1500">
                <a:solidFill>
                  <a:srgbClr val="333333"/>
                </a:solidFill>
              </a:defRPr>
            </a:pPr>
            <a:r>
              <a:rPr dirty="0"/>
              <a:t>   of burnout cases. The 74% majority class inflates aggregate scores.</a:t>
            </a:r>
          </a:p>
          <a:p>
            <a:pPr>
              <a:spcAft>
                <a:spcPts val="1000"/>
              </a:spcAft>
              <a:defRPr sz="1500">
                <a:solidFill>
                  <a:srgbClr val="333333"/>
                </a:solidFill>
              </a:defRPr>
            </a:pPr>
            <a:r>
              <a:rPr dirty="0"/>
              <a:t>2. PRECISION-RECALL TRADE-OFF</a:t>
            </a:r>
          </a:p>
          <a:p>
            <a:pPr>
              <a:spcAft>
                <a:spcPts val="1000"/>
              </a:spcAft>
              <a:defRPr sz="1500">
                <a:solidFill>
                  <a:srgbClr val="333333"/>
                </a:solidFill>
              </a:defRPr>
            </a:pPr>
            <a:r>
              <a:rPr dirty="0"/>
              <a:t>   Random Forest: 83% precision but only 50% recall.</a:t>
            </a:r>
          </a:p>
          <a:p>
            <a:pPr>
              <a:spcAft>
                <a:spcPts val="1000"/>
              </a:spcAft>
              <a:defRPr sz="1500">
                <a:solidFill>
                  <a:srgbClr val="333333"/>
                </a:solidFill>
              </a:defRPr>
            </a:pPr>
            <a:r>
              <a:rPr dirty="0"/>
              <a:t>   It's very sure when it flags </a:t>
            </a:r>
            <a:r>
              <a:rPr lang="en-US" dirty="0"/>
              <a:t>someone but</a:t>
            </a:r>
            <a:r>
              <a:rPr dirty="0"/>
              <a:t> misses half the cases.</a:t>
            </a:r>
          </a:p>
          <a:p>
            <a:pPr>
              <a:spcAft>
                <a:spcPts val="1000"/>
              </a:spcAft>
              <a:defRPr sz="1500">
                <a:solidFill>
                  <a:srgbClr val="333333"/>
                </a:solidFill>
              </a:defRPr>
            </a:pPr>
            <a:r>
              <a:rPr dirty="0"/>
              <a:t>3. DECISION TREE OVERFITTING</a:t>
            </a:r>
          </a:p>
          <a:p>
            <a:pPr>
              <a:spcAft>
                <a:spcPts val="1000"/>
              </a:spcAft>
              <a:defRPr sz="1500">
                <a:solidFill>
                  <a:srgbClr val="333333"/>
                </a:solidFill>
              </a:defRPr>
            </a:pPr>
            <a:r>
              <a:rPr dirty="0"/>
              <a:t>   AUC=0.678 — dramatically worse than all other models (&gt;0.9).</a:t>
            </a:r>
          </a:p>
          <a:p>
            <a:pPr>
              <a:spcAft>
                <a:spcPts val="1000"/>
              </a:spcAft>
              <a:defRPr sz="1500">
                <a:solidFill>
                  <a:srgbClr val="333333"/>
                </a:solidFill>
              </a:defRPr>
            </a:pPr>
            <a:r>
              <a:rPr dirty="0"/>
              <a:t>   Without </a:t>
            </a:r>
            <a:r>
              <a:rPr dirty="0" err="1"/>
              <a:t>max_depth</a:t>
            </a:r>
            <a:r>
              <a:rPr dirty="0"/>
              <a:t> pruning, it memorizes training data.</a:t>
            </a:r>
          </a:p>
          <a:p>
            <a:pPr>
              <a:spcAft>
                <a:spcPts val="1000"/>
              </a:spcAft>
              <a:defRPr sz="1500">
                <a:solidFill>
                  <a:srgbClr val="333333"/>
                </a:solidFill>
              </a:defRPr>
            </a:pPr>
            <a:r>
              <a:rPr dirty="0"/>
              <a:t>4. FEATURE LEAKAGE RISK</a:t>
            </a:r>
          </a:p>
          <a:p>
            <a:pPr>
              <a:spcAft>
                <a:spcPts val="1000"/>
              </a:spcAft>
              <a:defRPr sz="1500">
                <a:solidFill>
                  <a:srgbClr val="333333"/>
                </a:solidFill>
              </a:defRPr>
            </a:pPr>
            <a:r>
              <a:rPr dirty="0"/>
              <a:t>   </a:t>
            </a:r>
            <a:r>
              <a:rPr dirty="0" err="1"/>
              <a:t>burnout_score</a:t>
            </a:r>
            <a:r>
              <a:rPr dirty="0"/>
              <a:t> must be excluded from features (it </a:t>
            </a:r>
            <a:r>
              <a:rPr lang="en-US" dirty="0"/>
              <a:t>is</a:t>
            </a:r>
            <a:r>
              <a:rPr dirty="0"/>
              <a:t> the target).</a:t>
            </a:r>
          </a:p>
          <a:p>
            <a:pPr>
              <a:spcAft>
                <a:spcPts val="1000"/>
              </a:spcAft>
              <a:defRPr sz="1500">
                <a:solidFill>
                  <a:srgbClr val="333333"/>
                </a:solidFill>
              </a:defRPr>
            </a:pPr>
            <a:r>
              <a:rPr dirty="0"/>
              <a:t>   </a:t>
            </a:r>
            <a:r>
              <a:rPr dirty="0" err="1"/>
              <a:t>attrition_risk</a:t>
            </a:r>
            <a:r>
              <a:rPr dirty="0"/>
              <a:t> has strong correlation — borderline leakage but</a:t>
            </a:r>
          </a:p>
          <a:p>
            <a:pPr>
              <a:spcAft>
                <a:spcPts val="1000"/>
              </a:spcAft>
              <a:defRPr sz="1500">
                <a:solidFill>
                  <a:srgbClr val="333333"/>
                </a:solidFill>
              </a:defRPr>
            </a:pPr>
            <a:r>
              <a:rPr dirty="0"/>
              <a:t>   kept because it's independently measured in the dataset.</a:t>
            </a:r>
          </a:p>
          <a:p>
            <a:pPr>
              <a:spcAft>
                <a:spcPts val="1000"/>
              </a:spcAft>
              <a:defRPr sz="1500">
                <a:solidFill>
                  <a:srgbClr val="333333"/>
                </a:solidFill>
              </a:defRPr>
            </a:pPr>
            <a:r>
              <a:rPr dirty="0"/>
              <a:t>5. THRESHOLD SENSITIVITY</a:t>
            </a:r>
          </a:p>
          <a:p>
            <a:pPr>
              <a:spcAft>
                <a:spcPts val="1000"/>
              </a:spcAft>
              <a:defRPr sz="1500">
                <a:solidFill>
                  <a:srgbClr val="333333"/>
                </a:solidFill>
              </a:defRPr>
            </a:pPr>
            <a:r>
              <a:rPr dirty="0"/>
              <a:t>   75th percentile threshold is arbitrary. Shifting it changes class</a:t>
            </a:r>
          </a:p>
          <a:p>
            <a:pPr>
              <a:spcAft>
                <a:spcPts val="1000"/>
              </a:spcAft>
              <a:defRPr sz="1500">
                <a:solidFill>
                  <a:srgbClr val="333333"/>
                </a:solidFill>
              </a:defRPr>
            </a:pPr>
            <a:r>
              <a:rPr dirty="0"/>
              <a:t>   balance and model rankings. Sensitivity analysis recommended.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10972800" cy="731520"/>
          </a:xfrm>
          <a:prstGeom prst="rect">
            <a:avLst/>
          </a:prstGeom>
          <a:noFill/>
        </p:spPr>
        <p:txBody>
          <a:bodyPr wrap="none">
            <a:spAutoFit/>
          </a:bodyPr>
          <a:lstStyle/>
          <a:p>
            <a:pPr>
              <a:defRPr sz="2400" b="1">
                <a:solidFill>
                  <a:srgbClr val="1B2A4A"/>
                </a:solidFill>
              </a:defRPr>
            </a:pPr>
            <a:r>
              <a:t>Conclusion &amp; Recommendation</a:t>
            </a:r>
          </a:p>
        </p:txBody>
      </p:sp>
      <p:sp>
        <p:nvSpPr>
          <p:cNvPr id="3" name="TextBox 2"/>
          <p:cNvSpPr txBox="1"/>
          <p:nvPr/>
        </p:nvSpPr>
        <p:spPr>
          <a:xfrm>
            <a:off x="457200" y="1188720"/>
            <a:ext cx="10972800" cy="3913892"/>
          </a:xfrm>
          <a:prstGeom prst="rect">
            <a:avLst/>
          </a:prstGeom>
          <a:noFill/>
        </p:spPr>
        <p:txBody>
          <a:bodyPr wrap="square">
            <a:spAutoFit/>
          </a:bodyPr>
          <a:lstStyle/>
          <a:p>
            <a:pPr>
              <a:spcAft>
                <a:spcPts val="1000"/>
              </a:spcAft>
              <a:defRPr sz="1500">
                <a:solidFill>
                  <a:srgbClr val="333333"/>
                </a:solidFill>
              </a:defRPr>
            </a:pPr>
            <a:r>
              <a:rPr dirty="0"/>
              <a:t>ANSWER: </a:t>
            </a:r>
            <a:r>
              <a:rPr b="1" dirty="0"/>
              <a:t>Employees most at risk of burnout have:</a:t>
            </a:r>
          </a:p>
          <a:p>
            <a:pPr>
              <a:spcAft>
                <a:spcPts val="1000"/>
              </a:spcAft>
              <a:defRPr sz="1500">
                <a:solidFill>
                  <a:srgbClr val="333333"/>
                </a:solidFill>
              </a:defRPr>
            </a:pPr>
            <a:r>
              <a:rPr sz="1500" dirty="0">
                <a:solidFill>
                  <a:srgbClr val="00B050"/>
                </a:solidFill>
              </a:rPr>
              <a:t>  • High AI task replacement percentage (strongest signal)</a:t>
            </a:r>
          </a:p>
          <a:p>
            <a:pPr>
              <a:spcAft>
                <a:spcPts val="1000"/>
              </a:spcAft>
              <a:defRPr sz="1500">
                <a:solidFill>
                  <a:srgbClr val="333333"/>
                </a:solidFill>
              </a:defRPr>
            </a:pPr>
            <a:r>
              <a:rPr sz="1500" dirty="0">
                <a:solidFill>
                  <a:srgbClr val="00B050"/>
                </a:solidFill>
              </a:rPr>
              <a:t>  • Long daily AI-assisted work hours</a:t>
            </a:r>
          </a:p>
          <a:p>
            <a:pPr>
              <a:spcAft>
                <a:spcPts val="1000"/>
              </a:spcAft>
              <a:defRPr sz="1500">
                <a:solidFill>
                  <a:srgbClr val="333333"/>
                </a:solidFill>
              </a:defRPr>
            </a:pPr>
            <a:r>
              <a:rPr sz="1500" dirty="0">
                <a:solidFill>
                  <a:srgbClr val="00B050"/>
                </a:solidFill>
              </a:rPr>
              <a:t>  • Fear of AI replacement</a:t>
            </a:r>
          </a:p>
          <a:p>
            <a:pPr>
              <a:spcAft>
                <a:spcPts val="1000"/>
              </a:spcAft>
              <a:defRPr sz="1500">
                <a:solidFill>
                  <a:srgbClr val="333333"/>
                </a:solidFill>
              </a:defRPr>
            </a:pPr>
            <a:r>
              <a:rPr sz="1500" dirty="0">
                <a:solidFill>
                  <a:srgbClr val="00B050"/>
                </a:solidFill>
              </a:rPr>
              <a:t>  • Work in EdTech, Gaming, or E-commerce industries</a:t>
            </a:r>
          </a:p>
          <a:p>
            <a:pPr>
              <a:spcAft>
                <a:spcPts val="1000"/>
              </a:spcAft>
              <a:defRPr sz="1500">
                <a:solidFill>
                  <a:srgbClr val="333333"/>
                </a:solidFill>
              </a:defRPr>
            </a:pPr>
            <a:r>
              <a:rPr dirty="0"/>
              <a:t>RECOMMENDED MODEL: </a:t>
            </a:r>
            <a:r>
              <a:rPr sz="1500" b="1" dirty="0">
                <a:solidFill>
                  <a:srgbClr val="333333"/>
                </a:solidFill>
              </a:rPr>
              <a:t>Logistic Regression</a:t>
            </a:r>
          </a:p>
          <a:p>
            <a:pPr>
              <a:spcAft>
                <a:spcPts val="1000"/>
              </a:spcAft>
              <a:defRPr sz="1500">
                <a:solidFill>
                  <a:srgbClr val="333333"/>
                </a:solidFill>
              </a:defRPr>
            </a:pPr>
            <a:r>
              <a:rPr dirty="0">
                <a:solidFill>
                  <a:srgbClr val="00B050"/>
                </a:solidFill>
              </a:rPr>
              <a:t>  </a:t>
            </a:r>
            <a:r>
              <a:rPr lang="en-US" dirty="0">
                <a:solidFill>
                  <a:srgbClr val="00B050"/>
                </a:solidFill>
              </a:rPr>
              <a:t>NEXT STEPS:</a:t>
            </a:r>
          </a:p>
          <a:p>
            <a:pPr>
              <a:spcAft>
                <a:spcPts val="1000"/>
              </a:spcAft>
              <a:defRPr sz="1500">
                <a:solidFill>
                  <a:srgbClr val="333333"/>
                </a:solidFill>
              </a:defRPr>
            </a:pPr>
            <a:r>
              <a:rPr lang="en-US" dirty="0">
                <a:solidFill>
                  <a:srgbClr val="00B050"/>
                </a:solidFill>
              </a:rPr>
              <a:t>  • Deploy Logistic Regression — stable, interpretable</a:t>
            </a:r>
          </a:p>
          <a:p>
            <a:pPr>
              <a:spcAft>
                <a:spcPts val="1000"/>
              </a:spcAft>
              <a:defRPr sz="1500">
                <a:solidFill>
                  <a:srgbClr val="333333"/>
                </a:solidFill>
              </a:defRPr>
            </a:pPr>
            <a:r>
              <a:rPr lang="en-US" dirty="0">
                <a:solidFill>
                  <a:srgbClr val="00B050"/>
                </a:solidFill>
              </a:rPr>
              <a:t>  • Monitor </a:t>
            </a:r>
            <a:r>
              <a:rPr lang="en-US" dirty="0" err="1">
                <a:solidFill>
                  <a:srgbClr val="00B050"/>
                </a:solidFill>
              </a:rPr>
              <a:t>ai_replaces_my_tasks_pct</a:t>
            </a:r>
            <a:r>
              <a:rPr lang="en-US" dirty="0">
                <a:solidFill>
                  <a:srgbClr val="00B050"/>
                </a:solidFill>
              </a:rPr>
              <a:t> as early warning indicator</a:t>
            </a:r>
          </a:p>
          <a:p>
            <a:pPr>
              <a:spcAft>
                <a:spcPts val="1000"/>
              </a:spcAft>
              <a:defRPr sz="1500">
                <a:solidFill>
                  <a:srgbClr val="333333"/>
                </a:solidFill>
              </a:defRPr>
            </a:pPr>
            <a:r>
              <a:rPr lang="en-US" dirty="0">
                <a:solidFill>
                  <a:srgbClr val="00B050"/>
                </a:solidFill>
              </a:rPr>
              <a:t>  • Validate on new data</a:t>
            </a:r>
          </a:p>
          <a:p>
            <a:pPr>
              <a:spcAft>
                <a:spcPts val="1000"/>
              </a:spcAft>
              <a:defRPr sz="1500">
                <a:solidFill>
                  <a:srgbClr val="333333"/>
                </a:solidFill>
              </a:defRPr>
            </a:pP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9c55f1f-f169-4db7-a264-a5084ccbb748}" enabled="1" method="Standard" siteId="{135e8995-7d3b-4466-844b-a0d62ba5f495}" contentBits="0" removed="0"/>
</clbl:labelList>
</file>

<file path=docProps/app.xml><?xml version="1.0" encoding="utf-8"?>
<Properties xmlns="http://schemas.openxmlformats.org/officeDocument/2006/extended-properties" xmlns:vt="http://schemas.openxmlformats.org/officeDocument/2006/docPropsVTypes">
  <TotalTime>27</TotalTime>
  <Words>1405</Words>
  <Application>Microsoft Macintosh PowerPoint</Application>
  <PresentationFormat>Widescreen</PresentationFormat>
  <Paragraphs>140</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Singh, Savinay</cp:lastModifiedBy>
  <cp:revision>5</cp:revision>
  <dcterms:created xsi:type="dcterms:W3CDTF">2013-01-27T09:14:16Z</dcterms:created>
  <dcterms:modified xsi:type="dcterms:W3CDTF">2026-04-29T02:12:21Z</dcterms:modified>
  <cp:category/>
</cp:coreProperties>
</file>