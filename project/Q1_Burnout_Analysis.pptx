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77551"/>
  </p:normalViewPr>
  <p:slideViewPr>
    <p:cSldViewPr snapToGrid="0" snapToObjects="1">
      <p:cViewPr varScale="1">
        <p:scale>
          <a:sx n="98" d="100"/>
          <a:sy n="98" d="100"/>
        </p:scale>
        <p:origin x="448"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C5AB1B-9F38-A54C-B7BA-2F60FA6DC19D}" type="datetimeFigureOut">
              <a:rPr lang="en-US" smtClean="0"/>
              <a:t>4/27/26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009B7D-D436-EE40-A65A-081FFFA8F5A7}" type="slidenum">
              <a:rPr lang="en-US" smtClean="0"/>
              <a:t>‹#›</a:t>
            </a:fld>
            <a:endParaRPr lang="en-US"/>
          </a:p>
        </p:txBody>
      </p:sp>
    </p:spTree>
    <p:extLst>
      <p:ext uri="{BB962C8B-B14F-4D97-AF65-F5344CB8AC3E}">
        <p14:creationId xmlns:p14="http://schemas.microsoft.com/office/powerpoint/2010/main" val="1040500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chose 75th percentile as the threshold because it identifies employees significantly above average burnout. Using median would label half the workforce as 'at risk' which is too broad for targeted interventions.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Class imbalance is moderate (not severe like 95/5), so </a:t>
            </a:r>
            <a:r>
              <a:rPr dirty="0" err="1"/>
              <a:t>class_weight</a:t>
            </a:r>
            <a:r>
              <a:rPr dirty="0"/>
              <a:t>='balanced' is sufficient. SMOTE was not needed. We use F1 and recall on the minority class as primary evaluation metrics.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Weighted metrics are dominated by the majority class. A model can score 0.84 weighted F1 while only detecting 63% of actual burnout cases. Always check per-class metrics for imbalanced problems.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insight from confusion matrices:</a:t>
            </a:r>
          </a:p>
          <a:p>
            <a:r>
              <a:t>- SVM-RBF: Best True Positive rate (catches most burnout cases) but more False Positives</a:t>
            </a:r>
          </a:p>
          <a:p>
            <a:r>
              <a:t>- Random Forest: Fewest False Positives but misses half of burnout cases</a:t>
            </a:r>
          </a:p>
          <a:p>
            <a:r>
              <a:t>- Decision Tree: Worst overall with balanced errors</a:t>
            </a:r>
          </a:p>
          <a:p>
            <a:r>
              <a:t>The trade-off between FP and FN is visible here.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gap between weighted F1 and minority-class F1 is a common pitfall in imbalanced classification. Always report per-class metrics when the minority class is the class of interest.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Recall is more important than precision for burnout detection because:</a:t>
            </a:r>
          </a:p>
          <a:p>
            <a:r>
              <a:rPr dirty="0"/>
              <a:t>- False Negative (missing burnout) = employee suffers without intervention</a:t>
            </a:r>
          </a:p>
          <a:p>
            <a:r>
              <a:rPr dirty="0"/>
              <a:t>- False Positive (flagging non-burnout) = unnecessary check-in (low cost)</a:t>
            </a:r>
          </a:p>
          <a:p>
            <a:r>
              <a:rPr dirty="0"/>
              <a:t>This asymmetric cost structure favors high-recall models.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AUC is threshold-independent — it tells us the model's overall ranking ability. An AUC of 0.91 means that a randomly chosen burnout employee will score higher than a randomly chosen non-burnout employee 91% of the time.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LASSO (L1) drives coefficients to exactly zero, performing automatic feature selection. Features with non-zero coefficients have meaningful linear associations with burnout. The strongest predictor is AI task replacement percentage — employees whose tasks are being automated are most at risk.</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These anomalies highlight common ML pitfalls: metric selection bias, overfitting without regularization, and the danger of feature leakage. Each should be addressed in a production deployment.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Final recommendation prioritizes recall over precision because the cost of missing a burned-out employee (potential resignation, health issues) far exceeds the cost of a false alarm (brief check-in). SVM-RBF and Logistic Regression perform nearly identically; Logistic Reg is preferred if interpretability is needed since its coefficients are directly readable.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286000"/>
            <a:ext cx="10058400" cy="1371600"/>
          </a:xfrm>
          <a:prstGeom prst="rect">
            <a:avLst/>
          </a:prstGeom>
          <a:noFill/>
        </p:spPr>
        <p:txBody>
          <a:bodyPr wrap="none">
            <a:spAutoFit/>
          </a:bodyPr>
          <a:lstStyle/>
          <a:p>
            <a:pPr algn="ctr">
              <a:defRPr sz="3600" b="1">
                <a:solidFill>
                  <a:srgbClr val="1B2A4A"/>
                </a:solidFill>
              </a:defRPr>
            </a:pPr>
            <a:r>
              <a:t>Q1: Who Is at Risk of Burnout?</a:t>
            </a:r>
          </a:p>
          <a:p>
            <a:pPr algn="ctr">
              <a:defRPr sz="1800">
                <a:solidFill>
                  <a:srgbClr val="2E86AB"/>
                </a:solidFill>
              </a:defRPr>
            </a:pPr>
            <a:r>
              <a:t>Binary Classification Analysis</a:t>
            </a:r>
            <a:br/>
            <a:r>
              <a:t>AI Worker Burnout &amp; Attrition Dataset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0972800" cy="731520"/>
          </a:xfrm>
          <a:prstGeom prst="rect">
            <a:avLst/>
          </a:prstGeom>
          <a:noFill/>
        </p:spPr>
        <p:txBody>
          <a:bodyPr wrap="none">
            <a:spAutoFit/>
          </a:bodyPr>
          <a:lstStyle/>
          <a:p>
            <a:pPr>
              <a:defRPr sz="2400" b="1">
                <a:solidFill>
                  <a:srgbClr val="1B2A4A"/>
                </a:solidFill>
              </a:defRPr>
            </a:pPr>
            <a:r>
              <a:t>Problem Definition &amp; Approach</a:t>
            </a:r>
          </a:p>
        </p:txBody>
      </p:sp>
      <p:sp>
        <p:nvSpPr>
          <p:cNvPr id="3" name="TextBox 2"/>
          <p:cNvSpPr txBox="1"/>
          <p:nvPr/>
        </p:nvSpPr>
        <p:spPr>
          <a:xfrm>
            <a:off x="457200" y="1188720"/>
            <a:ext cx="10972800" cy="5029200"/>
          </a:xfrm>
          <a:prstGeom prst="rect">
            <a:avLst/>
          </a:prstGeom>
          <a:noFill/>
        </p:spPr>
        <p:txBody>
          <a:bodyPr wrap="square">
            <a:spAutoFit/>
          </a:bodyPr>
          <a:lstStyle/>
          <a:p>
            <a:pPr>
              <a:spcAft>
                <a:spcPts val="1000"/>
              </a:spcAft>
              <a:defRPr sz="1500">
                <a:solidFill>
                  <a:srgbClr val="333333"/>
                </a:solidFill>
              </a:defRPr>
            </a:pPr>
            <a:r>
              <a:rPr dirty="0"/>
              <a:t>Question: Which employees are at risk of burnout?</a:t>
            </a:r>
          </a:p>
          <a:p>
            <a:pPr>
              <a:spcAft>
                <a:spcPts val="1000"/>
              </a:spcAft>
              <a:defRPr sz="1500">
                <a:solidFill>
                  <a:srgbClr val="333333"/>
                </a:solidFill>
              </a:defRPr>
            </a:pPr>
            <a:endParaRPr dirty="0"/>
          </a:p>
          <a:p>
            <a:pPr>
              <a:spcAft>
                <a:spcPts val="1000"/>
              </a:spcAft>
              <a:defRPr sz="1500">
                <a:solidFill>
                  <a:srgbClr val="333333"/>
                </a:solidFill>
              </a:defRPr>
            </a:pPr>
            <a:r>
              <a:rPr dirty="0"/>
              <a:t>Target: </a:t>
            </a:r>
            <a:r>
              <a:rPr dirty="0" err="1"/>
              <a:t>burnout_binary</a:t>
            </a:r>
            <a:r>
              <a:rPr dirty="0"/>
              <a:t> — 1 if </a:t>
            </a:r>
            <a:r>
              <a:rPr dirty="0" err="1"/>
              <a:t>burnout_score</a:t>
            </a:r>
            <a:r>
              <a:rPr dirty="0"/>
              <a:t> ≥ 75th percentile (top 25%)</a:t>
            </a:r>
          </a:p>
          <a:p>
            <a:pPr>
              <a:spcAft>
                <a:spcPts val="1000"/>
              </a:spcAft>
              <a:defRPr sz="1500">
                <a:solidFill>
                  <a:srgbClr val="333333"/>
                </a:solidFill>
              </a:defRPr>
            </a:pPr>
            <a:endParaRPr dirty="0"/>
          </a:p>
          <a:p>
            <a:pPr>
              <a:spcAft>
                <a:spcPts val="1000"/>
              </a:spcAft>
              <a:defRPr sz="1500">
                <a:solidFill>
                  <a:srgbClr val="333333"/>
                </a:solidFill>
              </a:defRPr>
            </a:pPr>
            <a:r>
              <a:rPr dirty="0"/>
              <a:t>Why top 25%? Natural threshold — identifies employees significantly above</a:t>
            </a:r>
          </a:p>
          <a:p>
            <a:pPr>
              <a:spcAft>
                <a:spcPts val="1000"/>
              </a:spcAft>
              <a:defRPr sz="1500">
                <a:solidFill>
                  <a:srgbClr val="333333"/>
                </a:solidFill>
              </a:defRPr>
            </a:pPr>
            <a:r>
              <a:rPr dirty="0"/>
              <a:t>the median without being too restrictive. Balances sensitivity vs specificity.</a:t>
            </a:r>
          </a:p>
          <a:p>
            <a:pPr>
              <a:spcAft>
                <a:spcPts val="1000"/>
              </a:spcAft>
              <a:defRPr sz="1500">
                <a:solidFill>
                  <a:srgbClr val="333333"/>
                </a:solidFill>
              </a:defRPr>
            </a:pPr>
            <a:endParaRPr dirty="0"/>
          </a:p>
          <a:p>
            <a:pPr>
              <a:spcAft>
                <a:spcPts val="1000"/>
              </a:spcAft>
              <a:defRPr sz="1500">
                <a:solidFill>
                  <a:srgbClr val="333333"/>
                </a:solidFill>
              </a:defRPr>
            </a:pPr>
            <a:r>
              <a:rPr dirty="0"/>
              <a:t>Features: 62 encoded features (all columns except </a:t>
            </a:r>
            <a:r>
              <a:rPr dirty="0" err="1"/>
              <a:t>burnout_score</a:t>
            </a:r>
            <a:r>
              <a:rPr dirty="0"/>
              <a:t> to avoid leakage)</a:t>
            </a:r>
          </a:p>
          <a:p>
            <a:pPr>
              <a:spcAft>
                <a:spcPts val="1000"/>
              </a:spcAft>
              <a:defRPr sz="1500">
                <a:solidFill>
                  <a:srgbClr val="333333"/>
                </a:solidFill>
              </a:defRPr>
            </a:pPr>
            <a:endParaRPr dirty="0"/>
          </a:p>
          <a:p>
            <a:pPr>
              <a:spcAft>
                <a:spcPts val="1000"/>
              </a:spcAft>
              <a:defRPr sz="1500">
                <a:solidFill>
                  <a:srgbClr val="333333"/>
                </a:solidFill>
              </a:defRPr>
            </a:pPr>
            <a:r>
              <a:rPr dirty="0"/>
              <a:t>Models tested: Logistic Regression, Decision Tree, Random Forest,</a:t>
            </a:r>
          </a:p>
          <a:p>
            <a:pPr>
              <a:spcAft>
                <a:spcPts val="1000"/>
              </a:spcAft>
              <a:defRPr sz="1500">
                <a:solidFill>
                  <a:srgbClr val="333333"/>
                </a:solidFill>
              </a:defRPr>
            </a:pPr>
            <a:r>
              <a:rPr dirty="0"/>
              <a:t>Gradient Boosting, SVM-RBF — all with </a:t>
            </a:r>
            <a:r>
              <a:rPr dirty="0" err="1"/>
              <a:t>class_weight</a:t>
            </a:r>
            <a:r>
              <a:rPr dirty="0"/>
              <a:t>='balanced'</a:t>
            </a:r>
          </a:p>
          <a:p>
            <a:pPr>
              <a:spcAft>
                <a:spcPts val="1000"/>
              </a:spcAft>
              <a:defRPr sz="1500">
                <a:solidFill>
                  <a:srgbClr val="333333"/>
                </a:solidFill>
              </a:defRPr>
            </a:pPr>
            <a:endParaRPr dirty="0"/>
          </a:p>
          <a:p>
            <a:pPr>
              <a:spcAft>
                <a:spcPts val="1000"/>
              </a:spcAft>
              <a:defRPr sz="1500">
                <a:solidFill>
                  <a:srgbClr val="333333"/>
                </a:solidFill>
              </a:defRPr>
            </a:pPr>
            <a:r>
              <a:rPr dirty="0"/>
              <a:t>Class split: 26.0% burnout (positive) vs 74.0% no burnout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0972800" cy="731520"/>
          </a:xfrm>
          <a:prstGeom prst="rect">
            <a:avLst/>
          </a:prstGeom>
          <a:noFill/>
        </p:spPr>
        <p:txBody>
          <a:bodyPr wrap="none">
            <a:spAutoFit/>
          </a:bodyPr>
          <a:lstStyle/>
          <a:p>
            <a:pPr>
              <a:defRPr sz="2400" b="1">
                <a:solidFill>
                  <a:srgbClr val="1B2A4A"/>
                </a:solidFill>
              </a:defRPr>
            </a:pPr>
            <a:r>
              <a:t>Class Balance Check</a:t>
            </a:r>
          </a:p>
        </p:txBody>
      </p:sp>
      <p:sp>
        <p:nvSpPr>
          <p:cNvPr id="3" name="TextBox 2"/>
          <p:cNvSpPr txBox="1"/>
          <p:nvPr/>
        </p:nvSpPr>
        <p:spPr>
          <a:xfrm>
            <a:off x="457200" y="1188720"/>
            <a:ext cx="5029200" cy="5029200"/>
          </a:xfrm>
          <a:prstGeom prst="rect">
            <a:avLst/>
          </a:prstGeom>
          <a:noFill/>
        </p:spPr>
        <p:txBody>
          <a:bodyPr wrap="square">
            <a:spAutoFit/>
          </a:bodyPr>
          <a:lstStyle/>
          <a:p>
            <a:pPr>
              <a:spcAft>
                <a:spcPts val="800"/>
              </a:spcAft>
              <a:defRPr sz="1300">
                <a:solidFill>
                  <a:srgbClr val="333333"/>
                </a:solidFill>
              </a:defRPr>
            </a:pPr>
            <a:r>
              <a:t>Positive class (Burnout): 388 samples (26.0%)</a:t>
            </a:r>
          </a:p>
          <a:p>
            <a:pPr>
              <a:spcAft>
                <a:spcPts val="800"/>
              </a:spcAft>
              <a:defRPr sz="1300">
                <a:solidFill>
                  <a:srgbClr val="333333"/>
                </a:solidFill>
              </a:defRPr>
            </a:pPr>
            <a:r>
              <a:t>Negative class (No Burnout): 1103 samples (74.0%)</a:t>
            </a:r>
          </a:p>
          <a:p>
            <a:pPr>
              <a:spcAft>
                <a:spcPts val="800"/>
              </a:spcAft>
              <a:defRPr sz="1300">
                <a:solidFill>
                  <a:srgbClr val="333333"/>
                </a:solidFill>
              </a:defRPr>
            </a:pPr>
            <a:endParaRPr/>
          </a:p>
          <a:p>
            <a:pPr>
              <a:spcAft>
                <a:spcPts val="800"/>
              </a:spcAft>
              <a:defRPr sz="1300">
                <a:solidFill>
                  <a:srgbClr val="333333"/>
                </a:solidFill>
              </a:defRPr>
            </a:pPr>
            <a:r>
              <a:t>Imbalance ratio: 0.35 (moderate)</a:t>
            </a:r>
          </a:p>
          <a:p>
            <a:pPr>
              <a:spcAft>
                <a:spcPts val="800"/>
              </a:spcAft>
              <a:defRPr sz="1300">
                <a:solidFill>
                  <a:srgbClr val="333333"/>
                </a:solidFill>
              </a:defRPr>
            </a:pPr>
            <a:endParaRPr/>
          </a:p>
          <a:p>
            <a:pPr>
              <a:spcAft>
                <a:spcPts val="800"/>
              </a:spcAft>
              <a:defRPr sz="1300">
                <a:solidFill>
                  <a:srgbClr val="333333"/>
                </a:solidFill>
              </a:defRPr>
            </a:pPr>
            <a:r>
              <a:t>Thought process:</a:t>
            </a:r>
          </a:p>
          <a:p>
            <a:pPr>
              <a:spcAft>
                <a:spcPts val="800"/>
              </a:spcAft>
              <a:defRPr sz="1300">
                <a:solidFill>
                  <a:srgbClr val="333333"/>
                </a:solidFill>
              </a:defRPr>
            </a:pPr>
            <a:r>
              <a:t>• 74/26 split is moderately imbalanced</a:t>
            </a:r>
          </a:p>
          <a:p>
            <a:pPr>
              <a:spcAft>
                <a:spcPts val="800"/>
              </a:spcAft>
              <a:defRPr sz="1300">
                <a:solidFill>
                  <a:srgbClr val="333333"/>
                </a:solidFill>
              </a:defRPr>
            </a:pPr>
            <a:r>
              <a:t>• Without handling, models will bias toward majority class</a:t>
            </a:r>
          </a:p>
          <a:p>
            <a:pPr>
              <a:spcAft>
                <a:spcPts val="800"/>
              </a:spcAft>
              <a:defRPr sz="1300">
                <a:solidFill>
                  <a:srgbClr val="333333"/>
                </a:solidFill>
              </a:defRPr>
            </a:pPr>
            <a:r>
              <a:t>• Solution: class_weight='balanced' penalizes misclassifying minority</a:t>
            </a:r>
          </a:p>
          <a:p>
            <a:pPr>
              <a:spcAft>
                <a:spcPts val="800"/>
              </a:spcAft>
              <a:defRPr sz="1300">
                <a:solidFill>
                  <a:srgbClr val="333333"/>
                </a:solidFill>
              </a:defRPr>
            </a:pPr>
            <a:endParaRPr/>
          </a:p>
          <a:p>
            <a:pPr>
              <a:spcAft>
                <a:spcPts val="800"/>
              </a:spcAft>
              <a:defRPr sz="1300">
                <a:solidFill>
                  <a:srgbClr val="333333"/>
                </a:solidFill>
              </a:defRPr>
            </a:pPr>
            <a:r>
              <a:t>Pitfall: Accuracy alone is misleading here — a model predicting</a:t>
            </a:r>
          </a:p>
          <a:p>
            <a:pPr>
              <a:spcAft>
                <a:spcPts val="800"/>
              </a:spcAft>
              <a:defRPr sz="1300">
                <a:solidFill>
                  <a:srgbClr val="333333"/>
                </a:solidFill>
              </a:defRPr>
            </a:pPr>
            <a:r>
              <a:t>'No Burnout' for everyone gets ~74% accuracy but catches 0 cases.</a:t>
            </a:r>
          </a:p>
        </p:txBody>
      </p:sp>
      <p:pic>
        <p:nvPicPr>
          <p:cNvPr id="4" name="Picture 3" descr="class_balance.png"/>
          <p:cNvPicPr>
            <a:picLocks noChangeAspect="1"/>
          </p:cNvPicPr>
          <p:nvPr/>
        </p:nvPicPr>
        <p:blipFill>
          <a:blip r:embed="rId3"/>
          <a:stretch>
            <a:fillRect/>
          </a:stretch>
        </p:blipFill>
        <p:spPr>
          <a:xfrm>
            <a:off x="5669280" y="1097280"/>
            <a:ext cx="6217920" cy="348470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0972800" cy="731520"/>
          </a:xfrm>
          <a:prstGeom prst="rect">
            <a:avLst/>
          </a:prstGeom>
          <a:noFill/>
        </p:spPr>
        <p:txBody>
          <a:bodyPr wrap="none">
            <a:spAutoFit/>
          </a:bodyPr>
          <a:lstStyle/>
          <a:p>
            <a:pPr>
              <a:defRPr sz="2400" b="1">
                <a:solidFill>
                  <a:srgbClr val="1B2A4A"/>
                </a:solidFill>
              </a:defRPr>
            </a:pPr>
            <a:r>
              <a:t>Model Comparison — Weighted Metrics</a:t>
            </a:r>
          </a:p>
        </p:txBody>
      </p:sp>
      <p:sp>
        <p:nvSpPr>
          <p:cNvPr id="3" name="TextBox 2"/>
          <p:cNvSpPr txBox="1"/>
          <p:nvPr/>
        </p:nvSpPr>
        <p:spPr>
          <a:xfrm>
            <a:off x="457200" y="1188720"/>
            <a:ext cx="5029200" cy="3924151"/>
          </a:xfrm>
          <a:prstGeom prst="rect">
            <a:avLst/>
          </a:prstGeom>
          <a:noFill/>
        </p:spPr>
        <p:txBody>
          <a:bodyPr wrap="square">
            <a:spAutoFit/>
          </a:bodyPr>
          <a:lstStyle/>
          <a:p>
            <a:pPr>
              <a:spcAft>
                <a:spcPts val="800"/>
              </a:spcAft>
              <a:defRPr sz="1300">
                <a:solidFill>
                  <a:srgbClr val="333333"/>
                </a:solidFill>
              </a:defRPr>
            </a:pPr>
            <a:r>
              <a:rPr dirty="0"/>
              <a:t>All 5 models compared on standard metrics.</a:t>
            </a:r>
          </a:p>
          <a:p>
            <a:pPr>
              <a:spcAft>
                <a:spcPts val="800"/>
              </a:spcAft>
              <a:defRPr sz="1300">
                <a:solidFill>
                  <a:srgbClr val="333333"/>
                </a:solidFill>
              </a:defRPr>
            </a:pPr>
            <a:endParaRPr dirty="0"/>
          </a:p>
          <a:p>
            <a:pPr>
              <a:spcAft>
                <a:spcPts val="800"/>
              </a:spcAft>
              <a:defRPr sz="1300">
                <a:solidFill>
                  <a:srgbClr val="333333"/>
                </a:solidFill>
              </a:defRPr>
            </a:pPr>
            <a:r>
              <a:rPr dirty="0"/>
              <a:t>Top performer (weighted F1): Gradient Boosting — 84.6% accuracy</a:t>
            </a:r>
          </a:p>
          <a:p>
            <a:pPr>
              <a:spcAft>
                <a:spcPts val="800"/>
              </a:spcAft>
              <a:defRPr sz="1300">
                <a:solidFill>
                  <a:srgbClr val="333333"/>
                </a:solidFill>
              </a:defRPr>
            </a:pPr>
            <a:endParaRPr dirty="0"/>
          </a:p>
          <a:p>
            <a:pPr>
              <a:spcAft>
                <a:spcPts val="800"/>
              </a:spcAft>
              <a:defRPr sz="1300">
                <a:solidFill>
                  <a:srgbClr val="333333"/>
                </a:solidFill>
              </a:defRPr>
            </a:pPr>
            <a:r>
              <a:rPr dirty="0"/>
              <a:t>Thought process:</a:t>
            </a:r>
          </a:p>
          <a:p>
            <a:pPr>
              <a:spcAft>
                <a:spcPts val="800"/>
              </a:spcAft>
              <a:defRPr sz="1300">
                <a:solidFill>
                  <a:srgbClr val="333333"/>
                </a:solidFill>
              </a:defRPr>
            </a:pPr>
            <a:r>
              <a:rPr dirty="0"/>
              <a:t>• Weighted metrics average by class size</a:t>
            </a:r>
          </a:p>
          <a:p>
            <a:pPr>
              <a:spcAft>
                <a:spcPts val="800"/>
              </a:spcAft>
              <a:defRPr sz="1300">
                <a:solidFill>
                  <a:srgbClr val="333333"/>
                </a:solidFill>
              </a:defRPr>
            </a:pPr>
            <a:r>
              <a:rPr dirty="0"/>
              <a:t>• Dominated by majority class (No Burnout = 74%)</a:t>
            </a:r>
          </a:p>
          <a:p>
            <a:pPr>
              <a:spcAft>
                <a:spcPts val="800"/>
              </a:spcAft>
              <a:defRPr sz="1300">
                <a:solidFill>
                  <a:srgbClr val="333333"/>
                </a:solidFill>
              </a:defRPr>
            </a:pPr>
            <a:endParaRPr dirty="0"/>
          </a:p>
          <a:p>
            <a:pPr>
              <a:spcAft>
                <a:spcPts val="800"/>
              </a:spcAft>
              <a:defRPr sz="1300">
                <a:solidFill>
                  <a:srgbClr val="333333"/>
                </a:solidFill>
              </a:defRPr>
            </a:pPr>
            <a:r>
              <a:rPr dirty="0"/>
              <a:t>⚠️ PITFALL: Weighted F1 hides minority class performance!</a:t>
            </a:r>
          </a:p>
          <a:p>
            <a:pPr>
              <a:spcAft>
                <a:spcPts val="800"/>
              </a:spcAft>
              <a:defRPr sz="1300">
                <a:solidFill>
                  <a:srgbClr val="333333"/>
                </a:solidFill>
              </a:defRPr>
            </a:pPr>
            <a:r>
              <a:rPr dirty="0"/>
              <a:t>Gradient Boost looks best here but we need per-class breakdown</a:t>
            </a:r>
          </a:p>
          <a:p>
            <a:pPr>
              <a:spcAft>
                <a:spcPts val="800"/>
              </a:spcAft>
              <a:defRPr sz="1300">
                <a:solidFill>
                  <a:srgbClr val="333333"/>
                </a:solidFill>
              </a:defRPr>
            </a:pPr>
            <a:r>
              <a:rPr dirty="0"/>
              <a:t>to see if it </a:t>
            </a:r>
            <a:r>
              <a:rPr lang="en-US" dirty="0"/>
              <a:t>catches</a:t>
            </a:r>
            <a:r>
              <a:rPr dirty="0"/>
              <a:t> burnout employees.</a:t>
            </a:r>
          </a:p>
          <a:p>
            <a:pPr>
              <a:spcAft>
                <a:spcPts val="800"/>
              </a:spcAft>
              <a:defRPr sz="1300">
                <a:solidFill>
                  <a:srgbClr val="333333"/>
                </a:solidFill>
              </a:defRPr>
            </a:pPr>
            <a:endParaRPr dirty="0"/>
          </a:p>
          <a:p>
            <a:pPr>
              <a:spcAft>
                <a:spcPts val="800"/>
              </a:spcAft>
              <a:defRPr sz="1300">
                <a:solidFill>
                  <a:srgbClr val="333333"/>
                </a:solidFill>
              </a:defRPr>
            </a:pPr>
            <a:r>
              <a:rPr dirty="0"/>
              <a:t>Cross-validation F1 confirms stability (low variance across folds).</a:t>
            </a:r>
          </a:p>
        </p:txBody>
      </p:sp>
      <p:pic>
        <p:nvPicPr>
          <p:cNvPr id="4" name="Picture 3" descr="model_comparison.png"/>
          <p:cNvPicPr>
            <a:picLocks noChangeAspect="1"/>
          </p:cNvPicPr>
          <p:nvPr/>
        </p:nvPicPr>
        <p:blipFill>
          <a:blip r:embed="rId3"/>
          <a:stretch>
            <a:fillRect/>
          </a:stretch>
        </p:blipFill>
        <p:spPr>
          <a:xfrm>
            <a:off x="5669280" y="1097280"/>
            <a:ext cx="6217920" cy="305840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0972800" cy="731520"/>
          </a:xfrm>
          <a:prstGeom prst="rect">
            <a:avLst/>
          </a:prstGeom>
          <a:noFill/>
        </p:spPr>
        <p:txBody>
          <a:bodyPr wrap="none">
            <a:spAutoFit/>
          </a:bodyPr>
          <a:lstStyle/>
          <a:p>
            <a:pPr>
              <a:defRPr sz="2400" b="1">
                <a:solidFill>
                  <a:srgbClr val="1B2A4A"/>
                </a:solidFill>
              </a:defRPr>
            </a:pPr>
            <a:r>
              <a:t>Confusion Matrices — Visual Comparison</a:t>
            </a:r>
          </a:p>
        </p:txBody>
      </p:sp>
      <p:pic>
        <p:nvPicPr>
          <p:cNvPr id="3" name="Picture 2" descr="confusion_matrices.png"/>
          <p:cNvPicPr>
            <a:picLocks noChangeAspect="1"/>
          </p:cNvPicPr>
          <p:nvPr/>
        </p:nvPicPr>
        <p:blipFill>
          <a:blip r:embed="rId3"/>
          <a:stretch>
            <a:fillRect/>
          </a:stretch>
        </p:blipFill>
        <p:spPr>
          <a:xfrm>
            <a:off x="457200" y="1188720"/>
            <a:ext cx="11062138" cy="53035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0972800" cy="731520"/>
          </a:xfrm>
          <a:prstGeom prst="rect">
            <a:avLst/>
          </a:prstGeom>
          <a:noFill/>
        </p:spPr>
        <p:txBody>
          <a:bodyPr wrap="none">
            <a:spAutoFit/>
          </a:bodyPr>
          <a:lstStyle/>
          <a:p>
            <a:pPr>
              <a:defRPr sz="2400" b="1">
                <a:solidFill>
                  <a:srgbClr val="1B2A4A"/>
                </a:solidFill>
              </a:defRPr>
            </a:pPr>
            <a:r>
              <a:t>Per-Class F1 — The Real Story</a:t>
            </a:r>
          </a:p>
        </p:txBody>
      </p:sp>
      <p:sp>
        <p:nvSpPr>
          <p:cNvPr id="3" name="TextBox 2"/>
          <p:cNvSpPr txBox="1"/>
          <p:nvPr/>
        </p:nvSpPr>
        <p:spPr>
          <a:xfrm>
            <a:off x="457200" y="1188720"/>
            <a:ext cx="5029200" cy="5029200"/>
          </a:xfrm>
          <a:prstGeom prst="rect">
            <a:avLst/>
          </a:prstGeom>
          <a:noFill/>
        </p:spPr>
        <p:txBody>
          <a:bodyPr wrap="square">
            <a:spAutoFit/>
          </a:bodyPr>
          <a:lstStyle/>
          <a:p>
            <a:pPr>
              <a:spcAft>
                <a:spcPts val="800"/>
              </a:spcAft>
              <a:defRPr sz="1300">
                <a:solidFill>
                  <a:srgbClr val="333333"/>
                </a:solidFill>
              </a:defRPr>
            </a:pPr>
            <a:r>
              <a:rPr dirty="0"/>
              <a:t>This heatmap reveals what weighted metrics hid:</a:t>
            </a:r>
          </a:p>
          <a:p>
            <a:pPr>
              <a:spcAft>
                <a:spcPts val="800"/>
              </a:spcAft>
              <a:defRPr sz="1300">
                <a:solidFill>
                  <a:srgbClr val="333333"/>
                </a:solidFill>
              </a:defRPr>
            </a:pPr>
            <a:endParaRPr dirty="0"/>
          </a:p>
          <a:p>
            <a:pPr>
              <a:spcAft>
                <a:spcPts val="800"/>
              </a:spcAft>
              <a:defRPr sz="1300">
                <a:solidFill>
                  <a:srgbClr val="333333"/>
                </a:solidFill>
              </a:defRPr>
            </a:pPr>
            <a:r>
              <a:rPr dirty="0"/>
              <a:t>• SVM-RBF: Best Burnout F1 (0.725) — catches most cases</a:t>
            </a:r>
          </a:p>
          <a:p>
            <a:pPr>
              <a:spcAft>
                <a:spcPts val="800"/>
              </a:spcAft>
              <a:defRPr sz="1300">
                <a:solidFill>
                  <a:srgbClr val="333333"/>
                </a:solidFill>
              </a:defRPr>
            </a:pPr>
            <a:r>
              <a:rPr dirty="0"/>
              <a:t>• Logistic Reg: Close second (0.719) — simpler model</a:t>
            </a:r>
          </a:p>
          <a:p>
            <a:pPr>
              <a:spcAft>
                <a:spcPts val="800"/>
              </a:spcAft>
              <a:defRPr sz="1300">
                <a:solidFill>
                  <a:srgbClr val="333333"/>
                </a:solidFill>
              </a:defRPr>
            </a:pPr>
            <a:r>
              <a:rPr dirty="0"/>
              <a:t>• Gradient Boost: Lower Burnout F1 (0.681) despite best overall</a:t>
            </a:r>
          </a:p>
          <a:p>
            <a:pPr>
              <a:spcAft>
                <a:spcPts val="800"/>
              </a:spcAft>
              <a:defRPr sz="1300">
                <a:solidFill>
                  <a:srgbClr val="333333"/>
                </a:solidFill>
              </a:defRPr>
            </a:pPr>
            <a:r>
              <a:rPr dirty="0"/>
              <a:t>• Random Forest: Poor Burnout F1 (0.624) — misses half!</a:t>
            </a:r>
          </a:p>
          <a:p>
            <a:pPr>
              <a:spcAft>
                <a:spcPts val="800"/>
              </a:spcAft>
              <a:defRPr sz="1300">
                <a:solidFill>
                  <a:srgbClr val="333333"/>
                </a:solidFill>
              </a:defRPr>
            </a:pPr>
            <a:r>
              <a:rPr dirty="0"/>
              <a:t>• Decision Tree: Worst across both classes (0.524)</a:t>
            </a:r>
          </a:p>
          <a:p>
            <a:pPr>
              <a:spcAft>
                <a:spcPts val="800"/>
              </a:spcAft>
              <a:defRPr sz="1300">
                <a:solidFill>
                  <a:srgbClr val="333333"/>
                </a:solidFill>
              </a:defRPr>
            </a:pPr>
            <a:endParaRPr dirty="0"/>
          </a:p>
          <a:p>
            <a:pPr>
              <a:spcAft>
                <a:spcPts val="800"/>
              </a:spcAft>
              <a:defRPr sz="1300">
                <a:solidFill>
                  <a:srgbClr val="333333"/>
                </a:solidFill>
              </a:defRPr>
            </a:pPr>
            <a:r>
              <a:rPr dirty="0"/>
              <a:t>⚠️ ANOMALY: Gradient Boost ranks #1 in weighted metrics</a:t>
            </a:r>
          </a:p>
          <a:p>
            <a:pPr>
              <a:spcAft>
                <a:spcPts val="800"/>
              </a:spcAft>
              <a:defRPr sz="1300">
                <a:solidFill>
                  <a:srgbClr val="333333"/>
                </a:solidFill>
              </a:defRPr>
            </a:pPr>
            <a:r>
              <a:rPr dirty="0"/>
              <a:t>but #3 in minority class detection. The high No-Burnout F1</a:t>
            </a:r>
          </a:p>
          <a:p>
            <a:pPr>
              <a:spcAft>
                <a:spcPts val="800"/>
              </a:spcAft>
              <a:defRPr sz="1300">
                <a:solidFill>
                  <a:srgbClr val="333333"/>
                </a:solidFill>
              </a:defRPr>
            </a:pPr>
            <a:r>
              <a:rPr dirty="0"/>
              <a:t>(0.888) inflates its weighted average.</a:t>
            </a:r>
          </a:p>
          <a:p>
            <a:pPr>
              <a:spcAft>
                <a:spcPts val="800"/>
              </a:spcAft>
              <a:defRPr sz="1300">
                <a:solidFill>
                  <a:srgbClr val="333333"/>
                </a:solidFill>
              </a:defRPr>
            </a:pPr>
            <a:endParaRPr dirty="0"/>
          </a:p>
          <a:p>
            <a:pPr>
              <a:spcAft>
                <a:spcPts val="800"/>
              </a:spcAft>
              <a:defRPr sz="1300">
                <a:solidFill>
                  <a:srgbClr val="333333"/>
                </a:solidFill>
              </a:defRPr>
            </a:pPr>
            <a:r>
              <a:rPr dirty="0"/>
              <a:t>Takeaway: For HR intervention, SVM-RBF is the better choice.</a:t>
            </a:r>
          </a:p>
        </p:txBody>
      </p:sp>
      <p:pic>
        <p:nvPicPr>
          <p:cNvPr id="4" name="Picture 3" descr="f1_heatmap.png"/>
          <p:cNvPicPr>
            <a:picLocks noChangeAspect="1"/>
          </p:cNvPicPr>
          <p:nvPr/>
        </p:nvPicPr>
        <p:blipFill>
          <a:blip r:embed="rId3"/>
          <a:stretch>
            <a:fillRect/>
          </a:stretch>
        </p:blipFill>
        <p:spPr>
          <a:xfrm>
            <a:off x="5669280" y="1097280"/>
            <a:ext cx="6217920" cy="313623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0972800" cy="731520"/>
          </a:xfrm>
          <a:prstGeom prst="rect">
            <a:avLst/>
          </a:prstGeom>
          <a:noFill/>
        </p:spPr>
        <p:txBody>
          <a:bodyPr wrap="none">
            <a:spAutoFit/>
          </a:bodyPr>
          <a:lstStyle/>
          <a:p>
            <a:pPr>
              <a:defRPr sz="2400" b="1">
                <a:solidFill>
                  <a:srgbClr val="1B2A4A"/>
                </a:solidFill>
              </a:defRPr>
            </a:pPr>
            <a:r>
              <a:t>Minority Class Focus — Burnout Detection</a:t>
            </a:r>
          </a:p>
        </p:txBody>
      </p:sp>
      <p:sp>
        <p:nvSpPr>
          <p:cNvPr id="3" name="TextBox 2"/>
          <p:cNvSpPr txBox="1"/>
          <p:nvPr/>
        </p:nvSpPr>
        <p:spPr>
          <a:xfrm>
            <a:off x="457200" y="1188720"/>
            <a:ext cx="10972800" cy="5029200"/>
          </a:xfrm>
          <a:prstGeom prst="rect">
            <a:avLst/>
          </a:prstGeom>
          <a:noFill/>
        </p:spPr>
        <p:txBody>
          <a:bodyPr wrap="square">
            <a:spAutoFit/>
          </a:bodyPr>
          <a:lstStyle/>
          <a:p>
            <a:pPr>
              <a:spcAft>
                <a:spcPts val="1000"/>
              </a:spcAft>
              <a:defRPr sz="1500">
                <a:solidFill>
                  <a:srgbClr val="333333"/>
                </a:solidFill>
              </a:defRPr>
            </a:pPr>
            <a:r>
              <a:rPr dirty="0"/>
              <a:t>The question is: 'Can the model FIND burned-out employees?'</a:t>
            </a:r>
          </a:p>
          <a:p>
            <a:pPr>
              <a:spcAft>
                <a:spcPts val="1000"/>
              </a:spcAft>
              <a:defRPr sz="1500">
                <a:solidFill>
                  <a:srgbClr val="333333"/>
                </a:solidFill>
              </a:defRPr>
            </a:pPr>
            <a:endParaRPr dirty="0"/>
          </a:p>
          <a:p>
            <a:pPr>
              <a:spcAft>
                <a:spcPts val="1000"/>
              </a:spcAft>
              <a:defRPr sz="1500">
                <a:solidFill>
                  <a:srgbClr val="333333"/>
                </a:solidFill>
              </a:defRPr>
            </a:pPr>
            <a:r>
              <a:rPr dirty="0"/>
              <a:t>Model           | Precision | Recall  | F1</a:t>
            </a:r>
          </a:p>
          <a:p>
            <a:pPr>
              <a:spcAft>
                <a:spcPts val="1000"/>
              </a:spcAft>
              <a:defRPr sz="1500">
                <a:solidFill>
                  <a:srgbClr val="333333"/>
                </a:solidFill>
              </a:defRPr>
            </a:pPr>
            <a:r>
              <a:rPr dirty="0"/>
              <a:t>—————————————————————————————————————————————</a:t>
            </a:r>
          </a:p>
          <a:p>
            <a:pPr>
              <a:spcAft>
                <a:spcPts val="1000"/>
              </a:spcAft>
              <a:defRPr sz="1500">
                <a:solidFill>
                  <a:srgbClr val="333333"/>
                </a:solidFill>
              </a:defRPr>
            </a:pPr>
            <a:r>
              <a:rPr dirty="0"/>
              <a:t>SVM-RBF         |   0.635   |  0.846  | 0.725  ← BEST RECALL</a:t>
            </a:r>
          </a:p>
          <a:p>
            <a:pPr>
              <a:spcAft>
                <a:spcPts val="1000"/>
              </a:spcAft>
              <a:defRPr sz="1500">
                <a:solidFill>
                  <a:srgbClr val="333333"/>
                </a:solidFill>
              </a:defRPr>
            </a:pPr>
            <a:r>
              <a:rPr dirty="0"/>
              <a:t>Logistic Reg    |   0.640   |  0.821  | 0.719</a:t>
            </a:r>
          </a:p>
          <a:p>
            <a:pPr>
              <a:spcAft>
                <a:spcPts val="1000"/>
              </a:spcAft>
              <a:defRPr sz="1500">
                <a:solidFill>
                  <a:srgbClr val="333333"/>
                </a:solidFill>
              </a:defRPr>
            </a:pPr>
            <a:r>
              <a:rPr dirty="0"/>
              <a:t>Gradient Boost  |   0.742   |  0.628  | 0.681</a:t>
            </a:r>
          </a:p>
          <a:p>
            <a:pPr>
              <a:spcAft>
                <a:spcPts val="1000"/>
              </a:spcAft>
              <a:defRPr sz="1500">
                <a:solidFill>
                  <a:srgbClr val="333333"/>
                </a:solidFill>
              </a:defRPr>
            </a:pPr>
            <a:r>
              <a:rPr dirty="0"/>
              <a:t>Random Forest   |   0.830   |  0.500  | 0.624</a:t>
            </a:r>
          </a:p>
          <a:p>
            <a:pPr>
              <a:spcAft>
                <a:spcPts val="1000"/>
              </a:spcAft>
              <a:defRPr sz="1500">
                <a:solidFill>
                  <a:srgbClr val="333333"/>
                </a:solidFill>
              </a:defRPr>
            </a:pPr>
            <a:r>
              <a:rPr dirty="0"/>
              <a:t>Decision Tree   |   0.567   |  0.487  | 0.524</a:t>
            </a:r>
          </a:p>
          <a:p>
            <a:pPr>
              <a:spcAft>
                <a:spcPts val="1000"/>
              </a:spcAft>
              <a:defRPr sz="1500">
                <a:solidFill>
                  <a:srgbClr val="333333"/>
                </a:solidFill>
              </a:defRPr>
            </a:pPr>
            <a:endParaRPr dirty="0"/>
          </a:p>
          <a:p>
            <a:pPr>
              <a:spcAft>
                <a:spcPts val="1000"/>
              </a:spcAft>
              <a:defRPr sz="1500">
                <a:solidFill>
                  <a:srgbClr val="333333"/>
                </a:solidFill>
              </a:defRPr>
            </a:pPr>
            <a:r>
              <a:rPr dirty="0"/>
              <a:t>Key trade-off:</a:t>
            </a:r>
          </a:p>
          <a:p>
            <a:pPr>
              <a:spcAft>
                <a:spcPts val="1000"/>
              </a:spcAft>
              <a:defRPr sz="1500">
                <a:solidFill>
                  <a:srgbClr val="333333"/>
                </a:solidFill>
              </a:defRPr>
            </a:pPr>
            <a:r>
              <a:rPr dirty="0"/>
              <a:t>• SVM-RBF catches 85% of burnout (Recall=0.846) but has more false alarms</a:t>
            </a:r>
          </a:p>
          <a:p>
            <a:pPr>
              <a:spcAft>
                <a:spcPts val="1000"/>
              </a:spcAft>
              <a:defRPr sz="1500">
                <a:solidFill>
                  <a:srgbClr val="333333"/>
                </a:solidFill>
              </a:defRPr>
            </a:pPr>
            <a:r>
              <a:rPr dirty="0"/>
              <a:t>• Random Forest is precise (0.830) but only catches HALF the cases</a:t>
            </a:r>
          </a:p>
          <a:p>
            <a:pPr>
              <a:spcAft>
                <a:spcPts val="1000"/>
              </a:spcAft>
              <a:defRPr sz="1500">
                <a:solidFill>
                  <a:srgbClr val="333333"/>
                </a:solidFill>
              </a:defRPr>
            </a:pPr>
            <a:endParaRPr dirty="0"/>
          </a:p>
          <a:p>
            <a:pPr>
              <a:spcAft>
                <a:spcPts val="1000"/>
              </a:spcAft>
              <a:defRPr sz="1500">
                <a:solidFill>
                  <a:srgbClr val="333333"/>
                </a:solidFill>
              </a:defRPr>
            </a:pPr>
            <a:r>
              <a:rPr dirty="0"/>
              <a:t>For HR: Better to flag &amp; check someone unnecessarily than miss burnout.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0972800" cy="731520"/>
          </a:xfrm>
          <a:prstGeom prst="rect">
            <a:avLst/>
          </a:prstGeom>
          <a:noFill/>
        </p:spPr>
        <p:txBody>
          <a:bodyPr wrap="none">
            <a:spAutoFit/>
          </a:bodyPr>
          <a:lstStyle/>
          <a:p>
            <a:pPr>
              <a:defRPr sz="2400" b="1">
                <a:solidFill>
                  <a:srgbClr val="1B2A4A"/>
                </a:solidFill>
              </a:defRPr>
            </a:pPr>
            <a:r>
              <a:t>ROC Curves — Discrimination Ability</a:t>
            </a:r>
          </a:p>
        </p:txBody>
      </p:sp>
      <p:sp>
        <p:nvSpPr>
          <p:cNvPr id="3" name="TextBox 2"/>
          <p:cNvSpPr txBox="1"/>
          <p:nvPr/>
        </p:nvSpPr>
        <p:spPr>
          <a:xfrm>
            <a:off x="457200" y="1188720"/>
            <a:ext cx="5029200" cy="4832092"/>
          </a:xfrm>
          <a:prstGeom prst="rect">
            <a:avLst/>
          </a:prstGeom>
          <a:noFill/>
        </p:spPr>
        <p:txBody>
          <a:bodyPr wrap="square">
            <a:spAutoFit/>
          </a:bodyPr>
          <a:lstStyle/>
          <a:p>
            <a:pPr>
              <a:spcAft>
                <a:spcPts val="800"/>
              </a:spcAft>
              <a:defRPr sz="1300">
                <a:solidFill>
                  <a:srgbClr val="333333"/>
                </a:solidFill>
              </a:defRPr>
            </a:pPr>
            <a:r>
              <a:rPr dirty="0"/>
              <a:t>AUC measures how well a model separates the two classes</a:t>
            </a:r>
          </a:p>
          <a:p>
            <a:pPr>
              <a:spcAft>
                <a:spcPts val="800"/>
              </a:spcAft>
              <a:defRPr sz="1300">
                <a:solidFill>
                  <a:srgbClr val="333333"/>
                </a:solidFill>
              </a:defRPr>
            </a:pPr>
            <a:r>
              <a:rPr dirty="0"/>
              <a:t>across ALL decision thresholds (not just the default 0.5).</a:t>
            </a:r>
          </a:p>
          <a:p>
            <a:pPr>
              <a:spcAft>
                <a:spcPts val="800"/>
              </a:spcAft>
              <a:defRPr sz="1300">
                <a:solidFill>
                  <a:srgbClr val="333333"/>
                </a:solidFill>
              </a:defRPr>
            </a:pPr>
            <a:endParaRPr dirty="0"/>
          </a:p>
          <a:p>
            <a:pPr>
              <a:spcAft>
                <a:spcPts val="800"/>
              </a:spcAft>
              <a:defRPr sz="1300">
                <a:solidFill>
                  <a:srgbClr val="333333"/>
                </a:solidFill>
              </a:defRPr>
            </a:pPr>
            <a:r>
              <a:rPr dirty="0"/>
              <a:t>AUC Rankings:</a:t>
            </a:r>
          </a:p>
          <a:p>
            <a:pPr>
              <a:spcAft>
                <a:spcPts val="800"/>
              </a:spcAft>
              <a:defRPr sz="1300">
                <a:solidFill>
                  <a:srgbClr val="333333"/>
                </a:solidFill>
              </a:defRPr>
            </a:pPr>
            <a:r>
              <a:rPr dirty="0"/>
              <a:t>  1. SVM-RBF: 0.913</a:t>
            </a:r>
          </a:p>
          <a:p>
            <a:pPr>
              <a:spcAft>
                <a:spcPts val="800"/>
              </a:spcAft>
              <a:defRPr sz="1300">
                <a:solidFill>
                  <a:srgbClr val="333333"/>
                </a:solidFill>
              </a:defRPr>
            </a:pPr>
            <a:r>
              <a:rPr dirty="0"/>
              <a:t>  2. Logistic Reg: 0.913</a:t>
            </a:r>
          </a:p>
          <a:p>
            <a:pPr>
              <a:spcAft>
                <a:spcPts val="800"/>
              </a:spcAft>
              <a:defRPr sz="1300">
                <a:solidFill>
                  <a:srgbClr val="333333"/>
                </a:solidFill>
              </a:defRPr>
            </a:pPr>
            <a:r>
              <a:rPr dirty="0"/>
              <a:t>  3. Random Forest: 0.911</a:t>
            </a:r>
          </a:p>
          <a:p>
            <a:pPr>
              <a:spcAft>
                <a:spcPts val="800"/>
              </a:spcAft>
              <a:defRPr sz="1300">
                <a:solidFill>
                  <a:srgbClr val="333333"/>
                </a:solidFill>
              </a:defRPr>
            </a:pPr>
            <a:r>
              <a:rPr dirty="0"/>
              <a:t>  4. Gradient Boost: 0.902</a:t>
            </a:r>
          </a:p>
          <a:p>
            <a:pPr>
              <a:spcAft>
                <a:spcPts val="800"/>
              </a:spcAft>
              <a:defRPr sz="1300">
                <a:solidFill>
                  <a:srgbClr val="333333"/>
                </a:solidFill>
              </a:defRPr>
            </a:pPr>
            <a:r>
              <a:rPr dirty="0"/>
              <a:t>  5. Decision Tree: 0.678</a:t>
            </a:r>
          </a:p>
          <a:p>
            <a:pPr>
              <a:spcAft>
                <a:spcPts val="800"/>
              </a:spcAft>
              <a:defRPr sz="1300">
                <a:solidFill>
                  <a:srgbClr val="333333"/>
                </a:solidFill>
              </a:defRPr>
            </a:pPr>
            <a:endParaRPr dirty="0"/>
          </a:p>
          <a:p>
            <a:pPr>
              <a:spcAft>
                <a:spcPts val="800"/>
              </a:spcAft>
              <a:defRPr sz="1300">
                <a:solidFill>
                  <a:srgbClr val="333333"/>
                </a:solidFill>
              </a:defRPr>
            </a:pPr>
            <a:r>
              <a:rPr dirty="0"/>
              <a:t>Thought process:</a:t>
            </a:r>
          </a:p>
          <a:p>
            <a:pPr>
              <a:spcAft>
                <a:spcPts val="800"/>
              </a:spcAft>
              <a:defRPr sz="1300">
                <a:solidFill>
                  <a:srgbClr val="333333"/>
                </a:solidFill>
              </a:defRPr>
            </a:pPr>
            <a:r>
              <a:rPr dirty="0"/>
              <a:t>• AUC &gt; 0.9 for top 4 models — strong discrimination</a:t>
            </a:r>
          </a:p>
          <a:p>
            <a:pPr>
              <a:spcAft>
                <a:spcPts val="800"/>
              </a:spcAft>
              <a:defRPr sz="1300">
                <a:solidFill>
                  <a:srgbClr val="333333"/>
                </a:solidFill>
              </a:defRPr>
            </a:pPr>
            <a:r>
              <a:rPr dirty="0"/>
              <a:t>• Decision Tree AUC ~0.68 — barely better than random</a:t>
            </a:r>
          </a:p>
          <a:p>
            <a:pPr>
              <a:spcAft>
                <a:spcPts val="800"/>
              </a:spcAft>
              <a:defRPr sz="1300">
                <a:solidFill>
                  <a:srgbClr val="333333"/>
                </a:solidFill>
              </a:defRPr>
            </a:pPr>
            <a:endParaRPr dirty="0"/>
          </a:p>
          <a:p>
            <a:pPr>
              <a:spcAft>
                <a:spcPts val="800"/>
              </a:spcAft>
              <a:defRPr sz="1300">
                <a:solidFill>
                  <a:srgbClr val="333333"/>
                </a:solidFill>
              </a:defRPr>
            </a:pPr>
            <a:r>
              <a:rPr dirty="0"/>
              <a:t>⚠️ ANOMALY: Decision Tree performs far worse than others.</a:t>
            </a:r>
          </a:p>
          <a:p>
            <a:pPr>
              <a:spcAft>
                <a:spcPts val="800"/>
              </a:spcAft>
              <a:defRPr sz="1300">
                <a:solidFill>
                  <a:srgbClr val="333333"/>
                </a:solidFill>
              </a:defRPr>
            </a:pPr>
            <a:r>
              <a:rPr dirty="0"/>
              <a:t>Likely overfitting to training data</a:t>
            </a:r>
            <a:r>
              <a:rPr lang="en-US" dirty="0"/>
              <a:t>.</a:t>
            </a:r>
            <a:endParaRPr dirty="0"/>
          </a:p>
        </p:txBody>
      </p:sp>
      <p:pic>
        <p:nvPicPr>
          <p:cNvPr id="4" name="Picture 3" descr="roc_curves.png"/>
          <p:cNvPicPr>
            <a:picLocks noChangeAspect="1"/>
          </p:cNvPicPr>
          <p:nvPr/>
        </p:nvPicPr>
        <p:blipFill>
          <a:blip r:embed="rId3"/>
          <a:stretch>
            <a:fillRect/>
          </a:stretch>
        </p:blipFill>
        <p:spPr>
          <a:xfrm>
            <a:off x="5669280" y="1097280"/>
            <a:ext cx="6217920" cy="542481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0972800" cy="731520"/>
          </a:xfrm>
          <a:prstGeom prst="rect">
            <a:avLst/>
          </a:prstGeom>
          <a:noFill/>
        </p:spPr>
        <p:txBody>
          <a:bodyPr wrap="none">
            <a:spAutoFit/>
          </a:bodyPr>
          <a:lstStyle/>
          <a:p>
            <a:pPr>
              <a:defRPr sz="2400" b="1">
                <a:solidFill>
                  <a:srgbClr val="1B2A4A"/>
                </a:solidFill>
              </a:defRPr>
            </a:pPr>
            <a:r>
              <a:t>LASSO Feature Importance — What Drives Burnout?</a:t>
            </a:r>
          </a:p>
        </p:txBody>
      </p:sp>
      <p:sp>
        <p:nvSpPr>
          <p:cNvPr id="3" name="TextBox 2"/>
          <p:cNvSpPr txBox="1"/>
          <p:nvPr/>
        </p:nvSpPr>
        <p:spPr>
          <a:xfrm>
            <a:off x="457200" y="1188720"/>
            <a:ext cx="5029200" cy="5029200"/>
          </a:xfrm>
          <a:prstGeom prst="rect">
            <a:avLst/>
          </a:prstGeom>
          <a:noFill/>
        </p:spPr>
        <p:txBody>
          <a:bodyPr wrap="square">
            <a:spAutoFit/>
          </a:bodyPr>
          <a:lstStyle/>
          <a:p>
            <a:pPr>
              <a:spcAft>
                <a:spcPts val="800"/>
              </a:spcAft>
              <a:defRPr sz="1300">
                <a:solidFill>
                  <a:srgbClr val="333333"/>
                </a:solidFill>
              </a:defRPr>
            </a:pPr>
            <a:r>
              <a:rPr dirty="0"/>
              <a:t>L1 regularization kept 56/62 features</a:t>
            </a:r>
          </a:p>
          <a:p>
            <a:pPr>
              <a:spcAft>
                <a:spcPts val="800"/>
              </a:spcAft>
              <a:defRPr sz="1300">
                <a:solidFill>
                  <a:srgbClr val="333333"/>
                </a:solidFill>
              </a:defRPr>
            </a:pPr>
            <a:r>
              <a:rPr dirty="0"/>
              <a:t>(eliminated 6 as irrelevant).</a:t>
            </a:r>
          </a:p>
          <a:p>
            <a:pPr>
              <a:spcAft>
                <a:spcPts val="800"/>
              </a:spcAft>
              <a:defRPr sz="1300">
                <a:solidFill>
                  <a:srgbClr val="333333"/>
                </a:solidFill>
              </a:defRPr>
            </a:pPr>
            <a:endParaRPr dirty="0"/>
          </a:p>
          <a:p>
            <a:pPr>
              <a:spcAft>
                <a:spcPts val="800"/>
              </a:spcAft>
              <a:defRPr sz="1300">
                <a:solidFill>
                  <a:srgbClr val="333333"/>
                </a:solidFill>
              </a:defRPr>
            </a:pPr>
            <a:r>
              <a:rPr dirty="0"/>
              <a:t>🔴 INCREASES burnout risk:</a:t>
            </a:r>
          </a:p>
          <a:p>
            <a:pPr>
              <a:spcAft>
                <a:spcPts val="800"/>
              </a:spcAft>
              <a:defRPr sz="1300">
                <a:solidFill>
                  <a:srgbClr val="333333"/>
                </a:solidFill>
              </a:defRPr>
            </a:pPr>
            <a:r>
              <a:rPr dirty="0"/>
              <a:t>  • </a:t>
            </a:r>
            <a:r>
              <a:rPr dirty="0" err="1"/>
              <a:t>ai_replaces_my_tasks_pct</a:t>
            </a:r>
            <a:r>
              <a:rPr dirty="0"/>
              <a:t> (STRONGEST)</a:t>
            </a:r>
          </a:p>
          <a:p>
            <a:pPr>
              <a:spcAft>
                <a:spcPts val="800"/>
              </a:spcAft>
              <a:defRPr sz="1300">
                <a:solidFill>
                  <a:srgbClr val="333333"/>
                </a:solidFill>
              </a:defRPr>
            </a:pPr>
            <a:r>
              <a:rPr dirty="0"/>
              <a:t>  • </a:t>
            </a:r>
            <a:r>
              <a:rPr dirty="0" err="1"/>
              <a:t>hours_with_ai_assistance_daily</a:t>
            </a:r>
            <a:endParaRPr dirty="0"/>
          </a:p>
          <a:p>
            <a:pPr>
              <a:spcAft>
                <a:spcPts val="800"/>
              </a:spcAft>
              <a:defRPr sz="1300">
                <a:solidFill>
                  <a:srgbClr val="333333"/>
                </a:solidFill>
              </a:defRPr>
            </a:pPr>
            <a:r>
              <a:rPr dirty="0"/>
              <a:t>  • </a:t>
            </a:r>
            <a:r>
              <a:rPr dirty="0" err="1"/>
              <a:t>fear_of_ai_replacement</a:t>
            </a:r>
            <a:r>
              <a:rPr dirty="0"/>
              <a:t> (Low/Medium levels)</a:t>
            </a:r>
          </a:p>
          <a:p>
            <a:pPr>
              <a:spcAft>
                <a:spcPts val="800"/>
              </a:spcAft>
              <a:defRPr sz="1300">
                <a:solidFill>
                  <a:srgbClr val="333333"/>
                </a:solidFill>
              </a:defRPr>
            </a:pPr>
            <a:r>
              <a:rPr dirty="0"/>
              <a:t>  • Industries: EdTech, Gaming, E-commerce</a:t>
            </a:r>
          </a:p>
          <a:p>
            <a:pPr>
              <a:spcAft>
                <a:spcPts val="800"/>
              </a:spcAft>
              <a:defRPr sz="1300">
                <a:solidFill>
                  <a:srgbClr val="333333"/>
                </a:solidFill>
              </a:defRPr>
            </a:pPr>
            <a:endParaRPr dirty="0"/>
          </a:p>
          <a:p>
            <a:pPr>
              <a:spcAft>
                <a:spcPts val="800"/>
              </a:spcAft>
              <a:defRPr sz="1300">
                <a:solidFill>
                  <a:srgbClr val="333333"/>
                </a:solidFill>
              </a:defRPr>
            </a:pPr>
            <a:r>
              <a:rPr dirty="0"/>
              <a:t>🔵 DECREASES burnout risk:</a:t>
            </a:r>
          </a:p>
          <a:p>
            <a:pPr>
              <a:spcAft>
                <a:spcPts val="800"/>
              </a:spcAft>
              <a:defRPr sz="1300">
                <a:solidFill>
                  <a:srgbClr val="333333"/>
                </a:solidFill>
              </a:defRPr>
            </a:pPr>
            <a:r>
              <a:rPr dirty="0"/>
              <a:t>  • </a:t>
            </a:r>
            <a:r>
              <a:rPr dirty="0" err="1"/>
              <a:t>attrition_risk_Low</a:t>
            </a:r>
            <a:r>
              <a:rPr dirty="0"/>
              <a:t> (strongest protector)</a:t>
            </a:r>
          </a:p>
          <a:p>
            <a:pPr>
              <a:spcAft>
                <a:spcPts val="800"/>
              </a:spcAft>
              <a:defRPr sz="1300">
                <a:solidFill>
                  <a:srgbClr val="333333"/>
                </a:solidFill>
              </a:defRPr>
            </a:pPr>
            <a:r>
              <a:rPr dirty="0"/>
              <a:t>  • job_satisfaction_1_5</a:t>
            </a:r>
          </a:p>
          <a:p>
            <a:pPr>
              <a:spcAft>
                <a:spcPts val="800"/>
              </a:spcAft>
              <a:defRPr sz="1300">
                <a:solidFill>
                  <a:srgbClr val="333333"/>
                </a:solidFill>
              </a:defRPr>
            </a:pPr>
            <a:r>
              <a:rPr dirty="0"/>
              <a:t>  • </a:t>
            </a:r>
            <a:r>
              <a:rPr dirty="0" err="1"/>
              <a:t>attrition_risk_Medium</a:t>
            </a:r>
            <a:endParaRPr dirty="0"/>
          </a:p>
          <a:p>
            <a:pPr>
              <a:spcAft>
                <a:spcPts val="800"/>
              </a:spcAft>
              <a:defRPr sz="1300">
                <a:solidFill>
                  <a:srgbClr val="333333"/>
                </a:solidFill>
              </a:defRPr>
            </a:pPr>
            <a:r>
              <a:rPr dirty="0"/>
              <a:t>  • </a:t>
            </a:r>
            <a:r>
              <a:rPr dirty="0" err="1"/>
              <a:t>job_role_Prompt</a:t>
            </a:r>
            <a:r>
              <a:rPr dirty="0"/>
              <a:t> Engineer</a:t>
            </a:r>
          </a:p>
          <a:p>
            <a:pPr>
              <a:spcAft>
                <a:spcPts val="800"/>
              </a:spcAft>
              <a:defRPr sz="1300">
                <a:solidFill>
                  <a:srgbClr val="333333"/>
                </a:solidFill>
              </a:defRPr>
            </a:pPr>
            <a:endParaRPr dirty="0"/>
          </a:p>
          <a:p>
            <a:pPr>
              <a:spcAft>
                <a:spcPts val="800"/>
              </a:spcAft>
              <a:defRPr sz="1300">
                <a:solidFill>
                  <a:srgbClr val="333333"/>
                </a:solidFill>
              </a:defRPr>
            </a:pPr>
            <a:r>
              <a:rPr dirty="0"/>
              <a:t>Thought process: LASSO used post-hoc for interpretability,</a:t>
            </a:r>
          </a:p>
          <a:p>
            <a:pPr>
              <a:spcAft>
                <a:spcPts val="800"/>
              </a:spcAft>
              <a:defRPr sz="1300">
                <a:solidFill>
                  <a:srgbClr val="333333"/>
                </a:solidFill>
              </a:defRPr>
            </a:pPr>
            <a:r>
              <a:rPr dirty="0"/>
              <a:t>not for feature selection before training.</a:t>
            </a:r>
          </a:p>
        </p:txBody>
      </p:sp>
      <p:pic>
        <p:nvPicPr>
          <p:cNvPr id="4" name="Picture 3" descr="lasso_features.png"/>
          <p:cNvPicPr>
            <a:picLocks noChangeAspect="1"/>
          </p:cNvPicPr>
          <p:nvPr/>
        </p:nvPicPr>
        <p:blipFill>
          <a:blip r:embed="rId3"/>
          <a:stretch>
            <a:fillRect/>
          </a:stretch>
        </p:blipFill>
        <p:spPr>
          <a:xfrm>
            <a:off x="5669280" y="1097280"/>
            <a:ext cx="6217920" cy="369031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0972800" cy="731520"/>
          </a:xfrm>
          <a:prstGeom prst="rect">
            <a:avLst/>
          </a:prstGeom>
          <a:noFill/>
        </p:spPr>
        <p:txBody>
          <a:bodyPr wrap="none">
            <a:spAutoFit/>
          </a:bodyPr>
          <a:lstStyle/>
          <a:p>
            <a:pPr>
              <a:defRPr sz="2400" b="1">
                <a:solidFill>
                  <a:srgbClr val="1B2A4A"/>
                </a:solidFill>
              </a:defRPr>
            </a:pPr>
            <a:r>
              <a:t>Anomalies &amp; Pitfalls Identified</a:t>
            </a:r>
          </a:p>
        </p:txBody>
      </p:sp>
      <p:sp>
        <p:nvSpPr>
          <p:cNvPr id="3" name="TextBox 2"/>
          <p:cNvSpPr txBox="1"/>
          <p:nvPr/>
        </p:nvSpPr>
        <p:spPr>
          <a:xfrm>
            <a:off x="457200" y="1005840"/>
            <a:ext cx="10972800" cy="5350183"/>
          </a:xfrm>
          <a:prstGeom prst="rect">
            <a:avLst/>
          </a:prstGeom>
          <a:noFill/>
        </p:spPr>
        <p:txBody>
          <a:bodyPr wrap="square">
            <a:spAutoFit/>
          </a:bodyPr>
          <a:lstStyle/>
          <a:p>
            <a:pPr>
              <a:spcAft>
                <a:spcPts val="1000"/>
              </a:spcAft>
              <a:defRPr sz="1500">
                <a:solidFill>
                  <a:srgbClr val="333333"/>
                </a:solidFill>
              </a:defRPr>
            </a:pPr>
            <a:r>
              <a:rPr dirty="0"/>
              <a:t>1. WEIGHTED METRIC DECEPTION</a:t>
            </a:r>
          </a:p>
          <a:p>
            <a:pPr>
              <a:spcAft>
                <a:spcPts val="1000"/>
              </a:spcAft>
              <a:defRPr sz="1500">
                <a:solidFill>
                  <a:srgbClr val="333333"/>
                </a:solidFill>
              </a:defRPr>
            </a:pPr>
            <a:r>
              <a:rPr dirty="0"/>
              <a:t>   Gradient Boost appeared #1 (Weighted F1=0.846) but misses 37%</a:t>
            </a:r>
          </a:p>
          <a:p>
            <a:pPr>
              <a:spcAft>
                <a:spcPts val="1000"/>
              </a:spcAft>
              <a:defRPr sz="1500">
                <a:solidFill>
                  <a:srgbClr val="333333"/>
                </a:solidFill>
              </a:defRPr>
            </a:pPr>
            <a:r>
              <a:rPr dirty="0"/>
              <a:t>   of burnout cases. The 74% majority class inflates aggregate scores.</a:t>
            </a:r>
          </a:p>
          <a:p>
            <a:pPr>
              <a:spcAft>
                <a:spcPts val="1000"/>
              </a:spcAft>
              <a:defRPr sz="1500">
                <a:solidFill>
                  <a:srgbClr val="333333"/>
                </a:solidFill>
              </a:defRPr>
            </a:pPr>
            <a:r>
              <a:rPr dirty="0"/>
              <a:t>2. PRECISION-RECALL TRADE-OFF</a:t>
            </a:r>
          </a:p>
          <a:p>
            <a:pPr>
              <a:spcAft>
                <a:spcPts val="1000"/>
              </a:spcAft>
              <a:defRPr sz="1500">
                <a:solidFill>
                  <a:srgbClr val="333333"/>
                </a:solidFill>
              </a:defRPr>
            </a:pPr>
            <a:r>
              <a:rPr dirty="0"/>
              <a:t>   Random Forest: 83% precision but only 50% recall.</a:t>
            </a:r>
          </a:p>
          <a:p>
            <a:pPr>
              <a:spcAft>
                <a:spcPts val="1000"/>
              </a:spcAft>
              <a:defRPr sz="1500">
                <a:solidFill>
                  <a:srgbClr val="333333"/>
                </a:solidFill>
              </a:defRPr>
            </a:pPr>
            <a:r>
              <a:rPr dirty="0"/>
              <a:t>   It's very sure when it flags </a:t>
            </a:r>
            <a:r>
              <a:rPr lang="en-US" dirty="0"/>
              <a:t>someone but</a:t>
            </a:r>
            <a:r>
              <a:rPr dirty="0"/>
              <a:t> misses half the cases.</a:t>
            </a:r>
          </a:p>
          <a:p>
            <a:pPr>
              <a:spcAft>
                <a:spcPts val="1000"/>
              </a:spcAft>
              <a:defRPr sz="1500">
                <a:solidFill>
                  <a:srgbClr val="333333"/>
                </a:solidFill>
              </a:defRPr>
            </a:pPr>
            <a:r>
              <a:rPr dirty="0"/>
              <a:t>3. DECISION TREE OVERFITTING</a:t>
            </a:r>
          </a:p>
          <a:p>
            <a:pPr>
              <a:spcAft>
                <a:spcPts val="1000"/>
              </a:spcAft>
              <a:defRPr sz="1500">
                <a:solidFill>
                  <a:srgbClr val="333333"/>
                </a:solidFill>
              </a:defRPr>
            </a:pPr>
            <a:r>
              <a:rPr dirty="0"/>
              <a:t>   AUC=0.678 — dramatically worse than all other models (&gt;0.9).</a:t>
            </a:r>
          </a:p>
          <a:p>
            <a:pPr>
              <a:spcAft>
                <a:spcPts val="1000"/>
              </a:spcAft>
              <a:defRPr sz="1500">
                <a:solidFill>
                  <a:srgbClr val="333333"/>
                </a:solidFill>
              </a:defRPr>
            </a:pPr>
            <a:r>
              <a:rPr dirty="0"/>
              <a:t>4. FEATURE LEAKAGE RISK</a:t>
            </a:r>
          </a:p>
          <a:p>
            <a:pPr>
              <a:spcAft>
                <a:spcPts val="1000"/>
              </a:spcAft>
              <a:defRPr sz="1500">
                <a:solidFill>
                  <a:srgbClr val="333333"/>
                </a:solidFill>
              </a:defRPr>
            </a:pPr>
            <a:r>
              <a:rPr dirty="0"/>
              <a:t>   </a:t>
            </a:r>
            <a:r>
              <a:rPr dirty="0" err="1"/>
              <a:t>burnout_score</a:t>
            </a:r>
            <a:r>
              <a:rPr dirty="0"/>
              <a:t> must be excluded from features (it IS the target).</a:t>
            </a:r>
          </a:p>
          <a:p>
            <a:pPr>
              <a:spcAft>
                <a:spcPts val="1000"/>
              </a:spcAft>
              <a:defRPr sz="1500">
                <a:solidFill>
                  <a:srgbClr val="333333"/>
                </a:solidFill>
              </a:defRPr>
            </a:pPr>
            <a:r>
              <a:rPr dirty="0"/>
              <a:t>   </a:t>
            </a:r>
            <a:r>
              <a:rPr dirty="0" err="1"/>
              <a:t>attrition_risk</a:t>
            </a:r>
            <a:r>
              <a:rPr dirty="0"/>
              <a:t> has strong correlation — borderline leakage but</a:t>
            </a:r>
          </a:p>
          <a:p>
            <a:pPr>
              <a:spcAft>
                <a:spcPts val="1000"/>
              </a:spcAft>
              <a:defRPr sz="1500">
                <a:solidFill>
                  <a:srgbClr val="333333"/>
                </a:solidFill>
              </a:defRPr>
            </a:pPr>
            <a:r>
              <a:rPr dirty="0"/>
              <a:t>   kept because it's independently measured in the dataset.</a:t>
            </a:r>
          </a:p>
          <a:p>
            <a:pPr>
              <a:spcAft>
                <a:spcPts val="1000"/>
              </a:spcAft>
              <a:defRPr sz="1500">
                <a:solidFill>
                  <a:srgbClr val="333333"/>
                </a:solidFill>
              </a:defRPr>
            </a:pPr>
            <a:r>
              <a:rPr dirty="0"/>
              <a:t>5. THRESHOLD SENSITIVITY</a:t>
            </a:r>
          </a:p>
          <a:p>
            <a:pPr>
              <a:spcAft>
                <a:spcPts val="1000"/>
              </a:spcAft>
              <a:defRPr sz="1500">
                <a:solidFill>
                  <a:srgbClr val="333333"/>
                </a:solidFill>
              </a:defRPr>
            </a:pPr>
            <a:r>
              <a:rPr dirty="0"/>
              <a:t>   75th percentile threshold is arbitrary. Shifting it changes class</a:t>
            </a:r>
          </a:p>
          <a:p>
            <a:pPr>
              <a:spcAft>
                <a:spcPts val="1000"/>
              </a:spcAft>
              <a:defRPr sz="1500">
                <a:solidFill>
                  <a:srgbClr val="333333"/>
                </a:solidFill>
              </a:defRPr>
            </a:pPr>
            <a:r>
              <a:rPr dirty="0"/>
              <a:t>   balance and model rankings. Sensitivity analysis recommended.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0972800" cy="731520"/>
          </a:xfrm>
          <a:prstGeom prst="rect">
            <a:avLst/>
          </a:prstGeom>
          <a:noFill/>
        </p:spPr>
        <p:txBody>
          <a:bodyPr wrap="none">
            <a:spAutoFit/>
          </a:bodyPr>
          <a:lstStyle/>
          <a:p>
            <a:pPr>
              <a:defRPr sz="2400" b="1">
                <a:solidFill>
                  <a:srgbClr val="1B2A4A"/>
                </a:solidFill>
              </a:defRPr>
            </a:pPr>
            <a:r>
              <a:t>Conclusion &amp; Recommendation</a:t>
            </a:r>
          </a:p>
        </p:txBody>
      </p:sp>
      <p:sp>
        <p:nvSpPr>
          <p:cNvPr id="3" name="TextBox 2"/>
          <p:cNvSpPr txBox="1"/>
          <p:nvPr/>
        </p:nvSpPr>
        <p:spPr>
          <a:xfrm>
            <a:off x="457200" y="1188720"/>
            <a:ext cx="10972800" cy="5029200"/>
          </a:xfrm>
          <a:prstGeom prst="rect">
            <a:avLst/>
          </a:prstGeom>
          <a:noFill/>
        </p:spPr>
        <p:txBody>
          <a:bodyPr wrap="square">
            <a:spAutoFit/>
          </a:bodyPr>
          <a:lstStyle/>
          <a:p>
            <a:pPr>
              <a:spcAft>
                <a:spcPts val="1000"/>
              </a:spcAft>
              <a:defRPr sz="1500">
                <a:solidFill>
                  <a:srgbClr val="333333"/>
                </a:solidFill>
              </a:defRPr>
            </a:pPr>
            <a:r>
              <a:t>ANSWER: Employees most at risk of burnout have:</a:t>
            </a:r>
          </a:p>
          <a:p>
            <a:pPr>
              <a:spcAft>
                <a:spcPts val="1000"/>
              </a:spcAft>
              <a:defRPr sz="1500">
                <a:solidFill>
                  <a:srgbClr val="333333"/>
                </a:solidFill>
              </a:defRPr>
            </a:pPr>
            <a:r>
              <a:t>  • High AI task replacement percentage (strongest signal)</a:t>
            </a:r>
          </a:p>
          <a:p>
            <a:pPr>
              <a:spcAft>
                <a:spcPts val="1000"/>
              </a:spcAft>
              <a:defRPr sz="1500">
                <a:solidFill>
                  <a:srgbClr val="333333"/>
                </a:solidFill>
              </a:defRPr>
            </a:pPr>
            <a:r>
              <a:t>  • Long daily AI-assisted work hours</a:t>
            </a:r>
          </a:p>
          <a:p>
            <a:pPr>
              <a:spcAft>
                <a:spcPts val="1000"/>
              </a:spcAft>
              <a:defRPr sz="1500">
                <a:solidFill>
                  <a:srgbClr val="333333"/>
                </a:solidFill>
              </a:defRPr>
            </a:pPr>
            <a:r>
              <a:t>  • Fear of AI replacement</a:t>
            </a:r>
          </a:p>
          <a:p>
            <a:pPr>
              <a:spcAft>
                <a:spcPts val="1000"/>
              </a:spcAft>
              <a:defRPr sz="1500">
                <a:solidFill>
                  <a:srgbClr val="333333"/>
                </a:solidFill>
              </a:defRPr>
            </a:pPr>
            <a:r>
              <a:t>  • Work in EdTech, Gaming, or E-commerce industries</a:t>
            </a:r>
          </a:p>
          <a:p>
            <a:pPr>
              <a:spcAft>
                <a:spcPts val="1000"/>
              </a:spcAft>
              <a:defRPr sz="1500">
                <a:solidFill>
                  <a:srgbClr val="333333"/>
                </a:solidFill>
              </a:defRPr>
            </a:pPr>
            <a:endParaRPr/>
          </a:p>
          <a:p>
            <a:pPr>
              <a:spcAft>
                <a:spcPts val="1000"/>
              </a:spcAft>
              <a:defRPr sz="1500">
                <a:solidFill>
                  <a:srgbClr val="333333"/>
                </a:solidFill>
              </a:defRPr>
            </a:pPr>
            <a:r>
              <a:t>RECOMMENDED MODEL: SVM-RBF (or Logistic Regression)</a:t>
            </a:r>
          </a:p>
          <a:p>
            <a:pPr>
              <a:spcAft>
                <a:spcPts val="1000"/>
              </a:spcAft>
              <a:defRPr sz="1500">
                <a:solidFill>
                  <a:srgbClr val="333333"/>
                </a:solidFill>
              </a:defRPr>
            </a:pPr>
            <a:r>
              <a:t>  • Catches 85% of burnout cases (Recall = 0.846)</a:t>
            </a:r>
          </a:p>
          <a:p>
            <a:pPr>
              <a:spcAft>
                <a:spcPts val="1000"/>
              </a:spcAft>
              <a:defRPr sz="1500">
                <a:solidFill>
                  <a:srgbClr val="333333"/>
                </a:solidFill>
              </a:defRPr>
            </a:pPr>
            <a:r>
              <a:t>  • AUC = 0.913 — excellent discrimination</a:t>
            </a:r>
          </a:p>
          <a:p>
            <a:pPr>
              <a:spcAft>
                <a:spcPts val="1000"/>
              </a:spcAft>
              <a:defRPr sz="1500">
                <a:solidFill>
                  <a:srgbClr val="333333"/>
                </a:solidFill>
              </a:defRPr>
            </a:pPr>
            <a:r>
              <a:t>  • Trade-off: More false alarms (Precision = 0.635)</a:t>
            </a:r>
          </a:p>
          <a:p>
            <a:pPr>
              <a:spcAft>
                <a:spcPts val="1000"/>
              </a:spcAft>
              <a:defRPr sz="1500">
                <a:solidFill>
                  <a:srgbClr val="333333"/>
                </a:solidFill>
              </a:defRPr>
            </a:pPr>
            <a:endParaRPr/>
          </a:p>
          <a:p>
            <a:pPr>
              <a:spcAft>
                <a:spcPts val="1000"/>
              </a:spcAft>
              <a:defRPr sz="1500">
                <a:solidFill>
                  <a:srgbClr val="333333"/>
                </a:solidFill>
              </a:defRPr>
            </a:pPr>
            <a:r>
              <a:t>WHY NOT Gradient Boost (highest weighted F1)?</a:t>
            </a:r>
          </a:p>
          <a:p>
            <a:pPr>
              <a:spcAft>
                <a:spcPts val="1000"/>
              </a:spcAft>
              <a:defRPr sz="1500">
                <a:solidFill>
                  <a:srgbClr val="333333"/>
                </a:solidFill>
              </a:defRPr>
            </a:pPr>
            <a:r>
              <a:t>  • Misses 37% of burnout cases</a:t>
            </a:r>
          </a:p>
          <a:p>
            <a:pPr>
              <a:spcAft>
                <a:spcPts val="1000"/>
              </a:spcAft>
              <a:defRPr sz="1500">
                <a:solidFill>
                  <a:srgbClr val="333333"/>
                </a:solidFill>
              </a:defRPr>
            </a:pPr>
            <a:r>
              <a:t>  • In HR context: missing burnout &gt; unnecessary check-in</a:t>
            </a:r>
          </a:p>
          <a:p>
            <a:pPr>
              <a:spcAft>
                <a:spcPts val="1000"/>
              </a:spcAft>
              <a:defRPr sz="1500">
                <a:solidFill>
                  <a:srgbClr val="333333"/>
                </a:solidFill>
              </a:defRPr>
            </a:pPr>
            <a:endParaRPr/>
          </a:p>
          <a:p>
            <a:pPr>
              <a:spcAft>
                <a:spcPts val="1000"/>
              </a:spcAft>
              <a:defRPr sz="1500">
                <a:solidFill>
                  <a:srgbClr val="333333"/>
                </a:solidFill>
              </a:defRPr>
            </a:pPr>
            <a:r>
              <a:t>NEXT STEPS:</a:t>
            </a:r>
          </a:p>
          <a:p>
            <a:pPr>
              <a:spcAft>
                <a:spcPts val="1000"/>
              </a:spcAft>
              <a:defRPr sz="1500">
                <a:solidFill>
                  <a:srgbClr val="333333"/>
                </a:solidFill>
              </a:defRPr>
            </a:pPr>
            <a:r>
              <a:t>  • Deploy SVM-RBF with threshold tuning for desired recall level</a:t>
            </a:r>
          </a:p>
          <a:p>
            <a:pPr>
              <a:spcAft>
                <a:spcPts val="1000"/>
              </a:spcAft>
              <a:defRPr sz="1500">
                <a:solidFill>
                  <a:srgbClr val="333333"/>
                </a:solidFill>
              </a:defRPr>
            </a:pPr>
            <a:r>
              <a:t>  • Monitor ai_replaces_my_tasks_pct as early warning indicator</a:t>
            </a:r>
          </a:p>
          <a:p>
            <a:pPr>
              <a:spcAft>
                <a:spcPts val="1000"/>
              </a:spcAft>
              <a:defRPr sz="1500">
                <a:solidFill>
                  <a:srgbClr val="333333"/>
                </a:solidFill>
              </a:defRPr>
            </a:pPr>
            <a:r>
              <a:t>  • Validate on new data — cross-validation suggests stability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e9c55f1f-f169-4db7-a264-a5084ccbb748}" enabled="1" method="Standard" siteId="{135e8995-7d3b-4466-844b-a0d62ba5f495}" contentBits="0" removed="0"/>
</clbl:labelList>
</file>

<file path=docProps/app.xml><?xml version="1.0" encoding="utf-8"?>
<Properties xmlns="http://schemas.openxmlformats.org/officeDocument/2006/extended-properties" xmlns:vt="http://schemas.openxmlformats.org/officeDocument/2006/docPropsVTypes">
  <TotalTime>14</TotalTime>
  <Words>1497</Words>
  <Application>Microsoft Macintosh PowerPoint</Application>
  <PresentationFormat>Widescreen</PresentationFormat>
  <Paragraphs>162</Paragraphs>
  <Slides>11</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Singh, Savinay</cp:lastModifiedBy>
  <cp:revision>3</cp:revision>
  <dcterms:created xsi:type="dcterms:W3CDTF">2013-01-27T09:14:16Z</dcterms:created>
  <dcterms:modified xsi:type="dcterms:W3CDTF">2026-04-28T03:28:12Z</dcterms:modified>
  <cp:category/>
</cp:coreProperties>
</file>